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1732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📍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502920" y="2103120"/>
            <a:ext cx="10515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spc="600" kern="0" dirty="0">
                <a:solidFill>
                  <a:srgbClr val="FFFFFF"/>
                </a:solidFill>
              </a:rPr>
              <a:t>WAYSIDE</a:t>
            </a:r>
            <a:pPr indent="0" marL="0">
              <a:buNone/>
            </a:pPr>
            <a:r>
              <a:rPr lang="en-US" sz="2200" dirty="0">
                <a:solidFill>
                  <a:srgbClr val="898781"/>
                </a:solidFill>
              </a:rPr>
              <a:t>   see it, send word.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502920" y="3310128"/>
            <a:ext cx="9692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2000" dirty="0">
                <a:solidFill>
                  <a:srgbClr val="C3C2B7"/>
                </a:solidFill>
              </a:rPr>
              <a:t>One WhatsApp number that turns anyone who stops on the street</a:t>
            </a:r>
            <a:endParaRPr lang="en-US" sz="20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2000" dirty="0">
                <a:solidFill>
                  <a:srgbClr val="C3C2B7"/>
                </a:solidFill>
              </a:rPr>
              <a:t>into the start of a real aid response.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02920" y="4434840"/>
            <a:ext cx="2926080" cy="475488"/>
          </a:xfrm>
          <a:prstGeom prst="roundRect">
            <a:avLst>
              <a:gd name="adj" fmla="val 50000"/>
            </a:avLst>
          </a:prstGeom>
          <a:solidFill>
            <a:srgbClr val="12141A"/>
          </a:solidFill>
          <a:ln w="12700">
            <a:solidFill>
              <a:srgbClr val="2A2E3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04088" y="4608576"/>
            <a:ext cx="118872" cy="118872"/>
          </a:xfrm>
          <a:prstGeom prst="ellipse">
            <a:avLst/>
          </a:prstGeom>
          <a:solidFill>
            <a:srgbClr val="3987E5"/>
          </a:solidFill>
          <a:ln/>
        </p:spPr>
      </p:sp>
      <p:sp>
        <p:nvSpPr>
          <p:cNvPr id="7" name="Text 5"/>
          <p:cNvSpPr/>
          <p:nvPr/>
        </p:nvSpPr>
        <p:spPr>
          <a:xfrm>
            <a:off x="905256" y="4434840"/>
            <a:ext cx="24871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E6DF"/>
                </a:solidFill>
              </a:rPr>
              <a:t>No cameras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630168" y="4434840"/>
            <a:ext cx="2926080" cy="475488"/>
          </a:xfrm>
          <a:prstGeom prst="roundRect">
            <a:avLst>
              <a:gd name="adj" fmla="val 50000"/>
            </a:avLst>
          </a:prstGeom>
          <a:solidFill>
            <a:srgbClr val="12141A"/>
          </a:solidFill>
          <a:ln w="12700">
            <a:solidFill>
              <a:srgbClr val="2A2E3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831336" y="4608576"/>
            <a:ext cx="118872" cy="118872"/>
          </a:xfrm>
          <a:prstGeom prst="ellipse">
            <a:avLst/>
          </a:prstGeom>
          <a:solidFill>
            <a:srgbClr val="199E70"/>
          </a:solidFill>
          <a:ln/>
        </p:spPr>
      </p:sp>
      <p:sp>
        <p:nvSpPr>
          <p:cNvPr id="10" name="Text 8"/>
          <p:cNvSpPr/>
          <p:nvPr/>
        </p:nvSpPr>
        <p:spPr>
          <a:xfrm>
            <a:off x="4032504" y="4434840"/>
            <a:ext cx="24871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E6DF"/>
                </a:solidFill>
              </a:rPr>
              <a:t>No database of the poor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757416" y="4434840"/>
            <a:ext cx="2926080" cy="475488"/>
          </a:xfrm>
          <a:prstGeom prst="roundRect">
            <a:avLst>
              <a:gd name="adj" fmla="val 50000"/>
            </a:avLst>
          </a:prstGeom>
          <a:solidFill>
            <a:srgbClr val="12141A"/>
          </a:solidFill>
          <a:ln w="12700">
            <a:solidFill>
              <a:srgbClr val="2A2E3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958584" y="4608576"/>
            <a:ext cx="118872" cy="118872"/>
          </a:xfrm>
          <a:prstGeom prst="ellipse">
            <a:avLst/>
          </a:prstGeom>
          <a:solidFill>
            <a:srgbClr val="0CA30C"/>
          </a:solidFill>
          <a:ln/>
        </p:spPr>
      </p:sp>
      <p:sp>
        <p:nvSpPr>
          <p:cNvPr id="13" name="Text 11"/>
          <p:cNvSpPr/>
          <p:nvPr/>
        </p:nvSpPr>
        <p:spPr>
          <a:xfrm>
            <a:off x="7159752" y="4434840"/>
            <a:ext cx="24871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E6DF"/>
                </a:solidFill>
              </a:rPr>
              <a:t>Working demo · 111 tests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502920" y="608076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98781"/>
                </a:solidFill>
              </a:rPr>
              <a:t>Kevin Xu Innovation Challenge  ·  Rustom Dubash  ·  Equitech alum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384048"/>
            <a:ext cx="111831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Everyone walks past — because nothing works to do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02920" y="1325880"/>
            <a:ext cx="61264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6181D"/>
                </a:solidFill>
              </a:rPr>
              <a:t>You see a man under a flyover, foot wrapped in a soaked bandage. You stop. And then… what? </a:t>
            </a:r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6181D"/>
                </a:solidFill>
              </a:rPr>
              <a:t>112 is for emergencies. Helplines go to voicemail. Giving cash can now mean a police case for him. So the two minutes of caring evaporate — every day, in every city.
</a:t>
            </a:r>
            <a:pPr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6181D"/>
                </a:solidFill>
              </a:rPr>
              <a:t>Who it affects. </a:t>
            </a:r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6181D"/>
                </a:solidFill>
              </a:rPr>
              <a:t>1.7 million+ people live on India's streets; injuries, hunger and exposure kill quietly every winter and monsoon. And it affects every passer-by who wanted to act and had no channel.
</a:t>
            </a:r>
            <a:pPr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6181D"/>
                </a:solidFill>
              </a:rPr>
              <a:t>Why care now. </a:t>
            </a:r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6181D"/>
                </a:solidFill>
              </a:rPr>
              <a:t>The two dominant answers both fail: surveillance and black holes.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132320" y="1325880"/>
            <a:ext cx="4572000" cy="1298448"/>
          </a:xfrm>
          <a:prstGeom prst="roundRect">
            <a:avLst>
              <a:gd name="adj" fmla="val 6338"/>
            </a:avLst>
          </a:prstGeom>
          <a:solidFill>
            <a:srgbClr val="F4F5F7"/>
          </a:solidFill>
          <a:ln/>
        </p:spPr>
      </p:sp>
      <p:sp>
        <p:nvSpPr>
          <p:cNvPr id="6" name="Text 4"/>
          <p:cNvSpPr/>
          <p:nvPr/>
        </p:nvSpPr>
        <p:spPr>
          <a:xfrm>
            <a:off x="7406640" y="1435608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03B3B"/>
                </a:solidFill>
              </a:rPr>
              <a:t>10–15%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7406640" y="1984248"/>
            <a:ext cx="4114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</a:rPr>
              <a:t>accuracy of San Jose's camera-AI homeless detection — shut down in 2025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7132320" y="2807208"/>
            <a:ext cx="4572000" cy="1298448"/>
          </a:xfrm>
          <a:prstGeom prst="roundRect">
            <a:avLst>
              <a:gd name="adj" fmla="val 6338"/>
            </a:avLst>
          </a:prstGeom>
          <a:solidFill>
            <a:srgbClr val="F4F5F7"/>
          </a:solidFill>
          <a:ln/>
        </p:spPr>
      </p:sp>
      <p:sp>
        <p:nvSpPr>
          <p:cNvPr id="9" name="Text 7"/>
          <p:cNvSpPr/>
          <p:nvPr/>
        </p:nvSpPr>
        <p:spPr>
          <a:xfrm>
            <a:off x="7406640" y="2916936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7791F"/>
                </a:solidFill>
              </a:rPr>
              <a:t>23% / 5%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7406640" y="3465576"/>
            <a:ext cx="4114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</a:rPr>
              <a:t>of UK StreetLink reports led to finding / housing the person — witnesses stop reporting into silence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7132320" y="4288536"/>
            <a:ext cx="4572000" cy="1298448"/>
          </a:xfrm>
          <a:prstGeom prst="roundRect">
            <a:avLst>
              <a:gd name="adj" fmla="val 6338"/>
            </a:avLst>
          </a:prstGeom>
          <a:solidFill>
            <a:srgbClr val="F4F5F7"/>
          </a:solidFill>
          <a:ln/>
        </p:spPr>
      </p:sp>
      <p:sp>
        <p:nvSpPr>
          <p:cNvPr id="12" name="Text 10"/>
          <p:cNvSpPr/>
          <p:nvPr/>
        </p:nvSpPr>
        <p:spPr>
          <a:xfrm>
            <a:off x="7406640" y="4398264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52514E"/>
                </a:solidFill>
              </a:rPr>
              <a:t>₹0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7406640" y="4946904"/>
            <a:ext cx="4114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</a:rPr>
              <a:t>reaches the person in the moment a witness cares, today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502920" y="598932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2514E"/>
                </a:solidFill>
              </a:rPr>
              <a:t>The gap isn't compassion. It's a channel that answers.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OPPORTUNITY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384048"/>
            <a:ext cx="111831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now, why me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21208" y="1453896"/>
            <a:ext cx="182880" cy="182880"/>
          </a:xfrm>
          <a:prstGeom prst="ellipse">
            <a:avLst/>
          </a:prstGeom>
          <a:solidFill>
            <a:srgbClr val="3987E5"/>
          </a:solidFill>
          <a:ln/>
        </p:spPr>
      </p:sp>
      <p:sp>
        <p:nvSpPr>
          <p:cNvPr id="5" name="Text 3"/>
          <p:cNvSpPr/>
          <p:nvPr/>
        </p:nvSpPr>
        <p:spPr>
          <a:xfrm>
            <a:off x="886968" y="1371600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181D"/>
                </a:solidFill>
              </a:rPr>
              <a:t>Everyone already has the app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886968" y="1682496"/>
            <a:ext cx="6400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2514E"/>
                </a:solidFill>
              </a:rPr>
              <a:t>500M+ Indians use WhatsApp daily. Reporting must cost one message — now it can.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21208" y="2423160"/>
            <a:ext cx="182880" cy="182880"/>
          </a:xfrm>
          <a:prstGeom prst="ellipse">
            <a:avLst/>
          </a:prstGeom>
          <a:solidFill>
            <a:srgbClr val="199E70"/>
          </a:solidFill>
          <a:ln/>
        </p:spPr>
      </p:sp>
      <p:sp>
        <p:nvSpPr>
          <p:cNvPr id="8" name="Text 6"/>
          <p:cNvSpPr/>
          <p:nvPr/>
        </p:nvSpPr>
        <p:spPr>
          <a:xfrm>
            <a:off x="886968" y="2340864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181D"/>
                </a:solidFill>
              </a:rPr>
              <a:t>AI can finally take the report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886968" y="2651760"/>
            <a:ext cx="6400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2514E"/>
                </a:solidFill>
              </a:rPr>
              <a:t>LLMs reliably structure Hinglish/Hindi/English into location + need + urgency for pennies. Impossible two years ago.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21208" y="3392424"/>
            <a:ext cx="182880" cy="182880"/>
          </a:xfrm>
          <a:prstGeom prst="ellipse">
            <a:avLst/>
          </a:prstGeom>
          <a:solidFill>
            <a:srgbClr val="D95926"/>
          </a:solidFill>
          <a:ln/>
        </p:spPr>
      </p:sp>
      <p:sp>
        <p:nvSpPr>
          <p:cNvPr id="11" name="Text 9"/>
          <p:cNvSpPr/>
          <p:nvPr/>
        </p:nvSpPr>
        <p:spPr>
          <a:xfrm>
            <a:off x="886968" y="3310128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181D"/>
                </a:solidFill>
              </a:rPr>
              <a:t>Dispatch patterns are proven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886968" y="3621024"/>
            <a:ext cx="6400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2514E"/>
                </a:solidFill>
              </a:rPr>
              <a:t>GoodSAM showed parallel offers + first-accept gets a yes in ~a minute. India Post's DIGIPIN gives every pavement a 4 m address.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21208" y="4361688"/>
            <a:ext cx="182880" cy="182880"/>
          </a:xfrm>
          <a:prstGeom prst="ellipse">
            <a:avLst/>
          </a:prstGeom>
          <a:solidFill>
            <a:srgbClr val="0CA30C"/>
          </a:solidFill>
          <a:ln/>
        </p:spPr>
      </p:sp>
      <p:sp>
        <p:nvSpPr>
          <p:cNvPr id="14" name="Text 12"/>
          <p:cNvSpPr/>
          <p:nvPr/>
        </p:nvSpPr>
        <p:spPr>
          <a:xfrm>
            <a:off x="886968" y="4279392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181D"/>
                </a:solidFill>
              </a:rPr>
              <a:t>Privacy is now the moat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886968" y="4590288"/>
            <a:ext cx="6400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2514E"/>
                </a:solidFill>
              </a:rPr>
              <a:t>DPDP Act (2023) punishes hoarding personal data. A system designed to never build the dangerous database wins partners and regulators.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498080" y="1371600"/>
            <a:ext cx="4187952" cy="3886200"/>
          </a:xfrm>
          <a:prstGeom prst="roundRect">
            <a:avLst>
              <a:gd name="adj" fmla="val 2353"/>
            </a:avLst>
          </a:prstGeom>
          <a:solidFill>
            <a:srgbClr val="0D0D0D"/>
          </a:solidFill>
          <a:ln/>
        </p:spPr>
      </p:sp>
      <p:sp>
        <p:nvSpPr>
          <p:cNvPr id="17" name="Text 15"/>
          <p:cNvSpPr/>
          <p:nvPr/>
        </p:nvSpPr>
        <p:spPr>
          <a:xfrm>
            <a:off x="7818120" y="16459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898781"/>
                </a:solidFill>
              </a:rPr>
              <a:t>THE EDGE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818120" y="2011680"/>
            <a:ext cx="3611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1900" b="1" dirty="0">
                <a:solidFill>
                  <a:srgbClr val="FFFFFF"/>
                </a:solidFill>
              </a:rPr>
              <a:t>“The sensor isn't a camera.</a:t>
            </a:r>
            <a:endParaRPr lang="en-US" sz="1900" dirty="0"/>
          </a:p>
          <a:p>
            <a:pPr indent="0" marL="0">
              <a:lnSpc>
                <a:spcPts val="2500"/>
              </a:lnSpc>
              <a:buNone/>
            </a:pPr>
            <a:r>
              <a:rPr lang="en-US" sz="1900" b="1" dirty="0">
                <a:solidFill>
                  <a:srgbClr val="FFFFFF"/>
                </a:solidFill>
              </a:rPr>
              <a:t>It's a person who already stopped.”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7818120" y="3520440"/>
            <a:ext cx="3611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3C2B7"/>
                </a:solidFill>
              </a:rPr>
              <a:t>Equitech alum · built the working system solo — pipeline, control room, responder app, 111 tests — before asking for a rupee. Every design choice cites evidence from systems that failed before it.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02920" y="59893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2514E"/>
                </a:solidFill>
              </a:rPr>
              <a:t>Nothing here requires new behaviour — only a number worth saving.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384048"/>
            <a:ext cx="111831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message, answered — end to end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3584448" cy="1700784"/>
          </a:xfrm>
          <a:prstGeom prst="roundRect">
            <a:avLst>
              <a:gd name="adj" fmla="val 5376"/>
            </a:avLst>
          </a:prstGeom>
          <a:solidFill>
            <a:srgbClr val="F4F5F7"/>
          </a:solidFill>
          <a:ln/>
        </p:spPr>
      </p:sp>
      <p:sp>
        <p:nvSpPr>
          <p:cNvPr id="5" name="Shape 3"/>
          <p:cNvSpPr/>
          <p:nvPr/>
        </p:nvSpPr>
        <p:spPr>
          <a:xfrm>
            <a:off x="704088" y="1572768"/>
            <a:ext cx="420624" cy="420624"/>
          </a:xfrm>
          <a:prstGeom prst="ellipse">
            <a:avLst/>
          </a:prstGeom>
          <a:solidFill>
            <a:srgbClr val="3987E5"/>
          </a:solidFill>
          <a:ln/>
        </p:spPr>
      </p:sp>
      <p:sp>
        <p:nvSpPr>
          <p:cNvPr id="6" name="Text 4"/>
          <p:cNvSpPr/>
          <p:nvPr/>
        </p:nvSpPr>
        <p:spPr>
          <a:xfrm>
            <a:off x="704088" y="15727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52728" y="1536192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81D"/>
                </a:solidFill>
              </a:rPr>
              <a:t>Witness sends one WhatsApp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22376" y="2176272"/>
            <a:ext cx="3200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</a:rPr>
              <a:t>text, voice note or photo — English, Hinglish or हिंदी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25112" y="1371600"/>
            <a:ext cx="3584448" cy="1700784"/>
          </a:xfrm>
          <a:prstGeom prst="roundRect">
            <a:avLst>
              <a:gd name="adj" fmla="val 5376"/>
            </a:avLst>
          </a:prstGeom>
          <a:solidFill>
            <a:srgbClr val="F4F5F7"/>
          </a:solidFill>
          <a:ln/>
        </p:spPr>
      </p:sp>
      <p:sp>
        <p:nvSpPr>
          <p:cNvPr id="10" name="Shape 8"/>
          <p:cNvSpPr/>
          <p:nvPr/>
        </p:nvSpPr>
        <p:spPr>
          <a:xfrm>
            <a:off x="4526280" y="1572768"/>
            <a:ext cx="420624" cy="420624"/>
          </a:xfrm>
          <a:prstGeom prst="ellipse">
            <a:avLst/>
          </a:prstGeom>
          <a:solidFill>
            <a:srgbClr val="D03B3B"/>
          </a:solidFill>
          <a:ln/>
        </p:spPr>
      </p:sp>
      <p:sp>
        <p:nvSpPr>
          <p:cNvPr id="11" name="Text 9"/>
          <p:cNvSpPr/>
          <p:nvPr/>
        </p:nvSpPr>
        <p:spPr>
          <a:xfrm>
            <a:off x="4526280" y="15727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074920" y="1536192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81D"/>
                </a:solidFill>
              </a:rPr>
              <a:t>Deterministic 112 gate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4544568" y="2176272"/>
            <a:ext cx="3200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</a:rPr>
              <a:t>real emergencies get a fixed redirect before any AI speaks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147304" y="1371600"/>
            <a:ext cx="3584448" cy="1700784"/>
          </a:xfrm>
          <a:prstGeom prst="roundRect">
            <a:avLst>
              <a:gd name="adj" fmla="val 5376"/>
            </a:avLst>
          </a:prstGeom>
          <a:solidFill>
            <a:srgbClr val="F4F5F7"/>
          </a:solidFill>
          <a:ln/>
        </p:spPr>
      </p:sp>
      <p:sp>
        <p:nvSpPr>
          <p:cNvPr id="15" name="Shape 13"/>
          <p:cNvSpPr/>
          <p:nvPr/>
        </p:nvSpPr>
        <p:spPr>
          <a:xfrm>
            <a:off x="8348472" y="1572768"/>
            <a:ext cx="420624" cy="420624"/>
          </a:xfrm>
          <a:prstGeom prst="ellipse">
            <a:avLst/>
          </a:prstGeom>
          <a:solidFill>
            <a:srgbClr val="199E70"/>
          </a:solidFill>
          <a:ln/>
        </p:spPr>
      </p:sp>
      <p:sp>
        <p:nvSpPr>
          <p:cNvPr id="16" name="Text 14"/>
          <p:cNvSpPr/>
          <p:nvPr/>
        </p:nvSpPr>
        <p:spPr>
          <a:xfrm>
            <a:off x="8348472" y="15727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897112" y="1536192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81D"/>
                </a:solidFill>
              </a:rPr>
              <a:t>AI agent structures the report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8366760" y="2176272"/>
            <a:ext cx="3200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</a:rPr>
              <a:t>location (DIGIPIN), need, urgency → medical / food / shelter kit order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02920" y="3255264"/>
            <a:ext cx="3584448" cy="1700784"/>
          </a:xfrm>
          <a:prstGeom prst="roundRect">
            <a:avLst>
              <a:gd name="adj" fmla="val 5376"/>
            </a:avLst>
          </a:prstGeom>
          <a:solidFill>
            <a:srgbClr val="F4F5F7"/>
          </a:solidFill>
          <a:ln/>
        </p:spPr>
      </p:sp>
      <p:sp>
        <p:nvSpPr>
          <p:cNvPr id="20" name="Shape 18"/>
          <p:cNvSpPr/>
          <p:nvPr/>
        </p:nvSpPr>
        <p:spPr>
          <a:xfrm>
            <a:off x="704088" y="3456432"/>
            <a:ext cx="420624" cy="420624"/>
          </a:xfrm>
          <a:prstGeom prst="ellipse">
            <a:avLst/>
          </a:prstGeom>
          <a:solidFill>
            <a:srgbClr val="D95926"/>
          </a:solidFill>
          <a:ln/>
        </p:spPr>
      </p:sp>
      <p:sp>
        <p:nvSpPr>
          <p:cNvPr id="21" name="Text 19"/>
          <p:cNvSpPr/>
          <p:nvPr/>
        </p:nvSpPr>
        <p:spPr>
          <a:xfrm>
            <a:off x="704088" y="345643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252728" y="3419856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81D"/>
                </a:solidFill>
              </a:rPr>
              <a:t>Parallel offers, first accept wins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722376" y="4059936"/>
            <a:ext cx="3200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</a:rPr>
              <a:t>nearest trusted NGO responders get the job like a ride request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325112" y="3255264"/>
            <a:ext cx="3584448" cy="1700784"/>
          </a:xfrm>
          <a:prstGeom prst="roundRect">
            <a:avLst>
              <a:gd name="adj" fmla="val 5376"/>
            </a:avLst>
          </a:prstGeom>
          <a:solidFill>
            <a:srgbClr val="F4F5F7"/>
          </a:solidFill>
          <a:ln/>
        </p:spPr>
      </p:sp>
      <p:sp>
        <p:nvSpPr>
          <p:cNvPr id="25" name="Shape 23"/>
          <p:cNvSpPr/>
          <p:nvPr/>
        </p:nvSpPr>
        <p:spPr>
          <a:xfrm>
            <a:off x="4526280" y="3456432"/>
            <a:ext cx="420624" cy="420624"/>
          </a:xfrm>
          <a:prstGeom prst="ellipse">
            <a:avLst/>
          </a:prstGeom>
          <a:solidFill>
            <a:srgbClr val="0CA30C"/>
          </a:solidFill>
          <a:ln/>
        </p:spPr>
      </p:sp>
      <p:sp>
        <p:nvSpPr>
          <p:cNvPr id="26" name="Text 24"/>
          <p:cNvSpPr/>
          <p:nvPr/>
        </p:nvSpPr>
        <p:spPr>
          <a:xfrm>
            <a:off x="4526280" y="345643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5074920" y="3419856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81D"/>
                </a:solidFill>
              </a:rPr>
              <a:t>Kit delivered, outcome recorded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4544568" y="4059936"/>
            <a:ext cx="3200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</a:rPr>
              <a:t>served · escalated to clinical · not found · declined — respected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8147304" y="3255264"/>
            <a:ext cx="3584448" cy="1700784"/>
          </a:xfrm>
          <a:prstGeom prst="roundRect">
            <a:avLst>
              <a:gd name="adj" fmla="val 5376"/>
            </a:avLst>
          </a:prstGeom>
          <a:solidFill>
            <a:srgbClr val="F4F5F7"/>
          </a:solidFill>
          <a:ln/>
        </p:spPr>
      </p:sp>
      <p:sp>
        <p:nvSpPr>
          <p:cNvPr id="30" name="Shape 28"/>
          <p:cNvSpPr/>
          <p:nvPr/>
        </p:nvSpPr>
        <p:spPr>
          <a:xfrm>
            <a:off x="8348472" y="3456432"/>
            <a:ext cx="420624" cy="420624"/>
          </a:xfrm>
          <a:prstGeom prst="ellipse">
            <a:avLst/>
          </a:prstGeom>
          <a:solidFill>
            <a:srgbClr val="3987E5"/>
          </a:solidFill>
          <a:ln/>
        </p:spPr>
      </p:sp>
      <p:sp>
        <p:nvSpPr>
          <p:cNvPr id="31" name="Text 29"/>
          <p:cNvSpPr/>
          <p:nvPr/>
        </p:nvSpPr>
        <p:spPr>
          <a:xfrm>
            <a:off x="8348472" y="345643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6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8897112" y="3419856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81D"/>
                </a:solidFill>
              </a:rPr>
              <a:t>The witness is told how it ended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8366760" y="4059936"/>
            <a:ext cx="3200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</a:rPr>
              <a:t>“Meena reached him, help was given. Thank you.”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502920" y="525780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b="1" dirty="0">
                <a:solidFill>
                  <a:srgbClr val="16181D"/>
                </a:solidFill>
              </a:rPr>
              <a:t>Value hypothesis: </a:t>
            </a:r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52514E"/>
                </a:solidFill>
              </a:rPr>
              <a:t>closing the loop turns one-time witnesses into repeat reporters — gratitude is the growth engine. Delivered as a service: a WhatsApp line for the public (nothing to install), a control room + responder web app for the NGO.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DEMO — IT RUNS TODAY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384048"/>
            <a:ext cx="111831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a mockup: 111 tests, three surfaces, one loop</a:t>
            </a:r>
            <a:endParaRPr lang="en-US" sz="3400" dirty="0"/>
          </a:p>
        </p:txBody>
      </p:sp>
      <p:pic>
        <p:nvPicPr>
          <p:cNvPr id="4" name="Image 0" descr="/home/user/register/research/pitch/assets/roo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17320"/>
            <a:ext cx="7223760" cy="4297680"/>
          </a:xfrm>
          <a:prstGeom prst="ellipse">
            <a:avLst/>
          </a:prstGeom>
        </p:spPr>
      </p:pic>
      <p:pic>
        <p:nvPicPr>
          <p:cNvPr id="5" name="Image 1" descr="/home/user/register/research/pitch/assets/resp-off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417320"/>
            <a:ext cx="1783080" cy="3822192"/>
          </a:xfrm>
          <a:prstGeom prst="ellipse">
            <a:avLst/>
          </a:prstGeom>
        </p:spPr>
      </p:pic>
      <p:sp>
        <p:nvSpPr>
          <p:cNvPr id="6" name="Text 2"/>
          <p:cNvSpPr/>
          <p:nvPr/>
        </p:nvSpPr>
        <p:spPr>
          <a:xfrm>
            <a:off x="9966960" y="1417320"/>
            <a:ext cx="17830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81D"/>
                </a:solidFill>
              </a:rPr>
              <a:t>Control room
</a:t>
            </a:r>
            <a:pPr indent="0" marL="0">
              <a:buNone/>
            </a:pPr>
            <a:r>
              <a:rPr lang="en-US" sz="1100" dirty="0">
                <a:solidFill>
                  <a:srgbClr val="52514E"/>
                </a:solidFill>
              </a:rPr>
              <a:t>live map, dispatch waves, kit stock, kill-criteria dashboard
</a:t>
            </a:r>
            <a:pPr indent="0" marL="0">
              <a:buNone/>
            </a:pPr>
            <a:r>
              <a:rPr lang="en-US" sz="1250" b="1" dirty="0">
                <a:solidFill>
                  <a:srgbClr val="16181D"/>
                </a:solidFill>
              </a:rPr>
              <a:t>Responder app
</a:t>
            </a:r>
            <a:pPr indent="0" marL="0">
              <a:buNone/>
            </a:pPr>
            <a:r>
              <a:rPr lang="en-US" sz="1100" dirty="0">
                <a:solidFill>
                  <a:srgbClr val="52514E"/>
                </a:solidFill>
              </a:rPr>
              <a:t>offer ping → checklist → outcome, on any phone
</a:t>
            </a:r>
            <a:pPr indent="0" marL="0">
              <a:buNone/>
            </a:pPr>
            <a:r>
              <a:rPr lang="en-US" sz="1250" b="1" dirty="0">
                <a:solidFill>
                  <a:srgbClr val="16181D"/>
                </a:solidFill>
              </a:rPr>
              <a:t>Witness phone
</a:t>
            </a:r>
            <a:pPr indent="0" marL="0">
              <a:buNone/>
            </a:pPr>
            <a:r>
              <a:rPr lang="en-US" sz="1100" dirty="0">
                <a:solidFill>
                  <a:srgbClr val="52514E"/>
                </a:solidFill>
              </a:rPr>
              <a:t>trilingual chat, photo picker, live progress, “still there?” check</a:t>
            </a:r>
            <a:endParaRPr lang="en-US" sz="1250" dirty="0"/>
          </a:p>
        </p:txBody>
      </p:sp>
      <p:sp>
        <p:nvSpPr>
          <p:cNvPr id="7" name="Text 3"/>
          <p:cNvSpPr/>
          <p:nvPr/>
        </p:nvSpPr>
        <p:spPr>
          <a:xfrm>
            <a:off x="502920" y="594360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2514E"/>
                </a:solidFill>
              </a:rPr>
              <a:t>Recorded 2:22 walkthrough + interactive session replay available · runs offline on a laptop with zero API keys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CUSTOMER — WHO PAYS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384048"/>
            <a:ext cx="111831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NGOs and CSR budgets buying verified outcomes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5440680" cy="2011680"/>
          </a:xfrm>
          <a:prstGeom prst="roundRect">
            <a:avLst>
              <a:gd name="adj" fmla="val 4545"/>
            </a:avLst>
          </a:prstGeom>
          <a:solidFill>
            <a:srgbClr val="F4F5F7"/>
          </a:solidFill>
          <a:ln/>
        </p:spPr>
      </p:sp>
      <p:sp>
        <p:nvSpPr>
          <p:cNvPr id="5" name="Shape 3"/>
          <p:cNvSpPr/>
          <p:nvPr/>
        </p:nvSpPr>
        <p:spPr>
          <a:xfrm>
            <a:off x="758952" y="1709928"/>
            <a:ext cx="164592" cy="164592"/>
          </a:xfrm>
          <a:prstGeom prst="ellipse">
            <a:avLst/>
          </a:prstGeom>
          <a:solidFill>
            <a:srgbClr val="3987E5"/>
          </a:solidFill>
          <a:ln/>
        </p:spPr>
      </p:sp>
      <p:sp>
        <p:nvSpPr>
          <p:cNvPr id="6" name="Text 4"/>
          <p:cNvSpPr/>
          <p:nvPr/>
        </p:nvSpPr>
        <p:spPr>
          <a:xfrm>
            <a:off x="1051560" y="1600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81D"/>
                </a:solidFill>
              </a:rPr>
              <a:t>Who buys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77240" y="2039112"/>
            <a:ext cx="489204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2514E"/>
                </a:solidFill>
              </a:rPr>
              <a:t>NGO street-outreach programs and the CSR funders behind them (India mandates 2% of corporate profit to CSR), plus municipal shelter boards.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17920" y="1417320"/>
            <a:ext cx="5440680" cy="2011680"/>
          </a:xfrm>
          <a:prstGeom prst="roundRect">
            <a:avLst>
              <a:gd name="adj" fmla="val 4545"/>
            </a:avLst>
          </a:prstGeom>
          <a:solidFill>
            <a:srgbClr val="F4F5F7"/>
          </a:solidFill>
          <a:ln/>
        </p:spPr>
      </p:sp>
      <p:sp>
        <p:nvSpPr>
          <p:cNvPr id="9" name="Shape 7"/>
          <p:cNvSpPr/>
          <p:nvPr/>
        </p:nvSpPr>
        <p:spPr>
          <a:xfrm>
            <a:off x="6473952" y="1709928"/>
            <a:ext cx="164592" cy="164592"/>
          </a:xfrm>
          <a:prstGeom prst="ellipse">
            <a:avLst/>
          </a:prstGeom>
          <a:solidFill>
            <a:srgbClr val="D95926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0" y="1600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81D"/>
                </a:solidFill>
              </a:rPr>
              <a:t>Pain solved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92240" y="2039112"/>
            <a:ext cx="489204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2514E"/>
                </a:solidFill>
              </a:rPr>
              <a:t>Outreach teams find people too late and blind; donors get activity reports, not verified outcomes; data practices now carry DPDP legal risk.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611880"/>
            <a:ext cx="5440680" cy="2011680"/>
          </a:xfrm>
          <a:prstGeom prst="roundRect">
            <a:avLst>
              <a:gd name="adj" fmla="val 4545"/>
            </a:avLst>
          </a:prstGeom>
          <a:solidFill>
            <a:srgbClr val="F4F5F7"/>
          </a:solidFill>
          <a:ln/>
        </p:spPr>
      </p:sp>
      <p:sp>
        <p:nvSpPr>
          <p:cNvPr id="13" name="Shape 11"/>
          <p:cNvSpPr/>
          <p:nvPr/>
        </p:nvSpPr>
        <p:spPr>
          <a:xfrm>
            <a:off x="758952" y="3904488"/>
            <a:ext cx="164592" cy="164592"/>
          </a:xfrm>
          <a:prstGeom prst="ellipse">
            <a:avLst/>
          </a:prstGeom>
          <a:solidFill>
            <a:srgbClr val="199E70"/>
          </a:solidFill>
          <a:ln/>
        </p:spPr>
      </p:sp>
      <p:sp>
        <p:nvSpPr>
          <p:cNvPr id="14" name="Text 12"/>
          <p:cNvSpPr/>
          <p:nvPr/>
        </p:nvSpPr>
        <p:spPr>
          <a:xfrm>
            <a:off x="1051560" y="37947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81D"/>
                </a:solidFill>
              </a:rPr>
              <a:t>What they get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77240" y="4233672"/>
            <a:ext cx="489204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2514E"/>
                </a:solidFill>
              </a:rPr>
              <a:t>A per-zone service: verified need → delivered kit → coded outcome, with provenance-tagged records and privacy by architecture — audit-ready.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217920" y="3611880"/>
            <a:ext cx="5440680" cy="2011680"/>
          </a:xfrm>
          <a:prstGeom prst="roundRect">
            <a:avLst>
              <a:gd name="adj" fmla="val 4545"/>
            </a:avLst>
          </a:prstGeom>
          <a:solidFill>
            <a:srgbClr val="F4F5F7"/>
          </a:solidFill>
          <a:ln/>
        </p:spPr>
      </p:sp>
      <p:sp>
        <p:nvSpPr>
          <p:cNvPr id="17" name="Shape 15"/>
          <p:cNvSpPr/>
          <p:nvPr/>
        </p:nvSpPr>
        <p:spPr>
          <a:xfrm>
            <a:off x="6473952" y="3904488"/>
            <a:ext cx="164592" cy="164592"/>
          </a:xfrm>
          <a:prstGeom prst="ellipse">
            <a:avLst/>
          </a:prstGeom>
          <a:solidFill>
            <a:srgbClr val="0CA30C"/>
          </a:solidFill>
          <a:ln/>
        </p:spPr>
      </p:sp>
      <p:sp>
        <p:nvSpPr>
          <p:cNvPr id="18" name="Text 16"/>
          <p:cNvSpPr/>
          <p:nvPr/>
        </p:nvSpPr>
        <p:spPr>
          <a:xfrm>
            <a:off x="6766560" y="37947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81D"/>
                </a:solidFill>
              </a:rPr>
              <a:t>First customer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492240" y="4233672"/>
            <a:ext cx="489204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2514E"/>
                </a:solidFill>
              </a:rPr>
              <a:t>One Delhi NGO, one pilot zone (Nizamuddin). Reached through the Equitech network and an existing Goonj relationship — pitch is a working demo, not a proposal.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02920" y="598932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2514E"/>
                </a:solidFill>
              </a:rPr>
              <a:t>Unit economics to defend in the pilot: ~₹300 kit + delivery ≈ ₹430 per person served — kill line at ₹900.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USERS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384048"/>
            <a:ext cx="111831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users — and one deliberate non-user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3584448" cy="2286000"/>
          </a:xfrm>
          <a:prstGeom prst="roundRect">
            <a:avLst>
              <a:gd name="adj" fmla="val 4000"/>
            </a:avLst>
          </a:prstGeom>
          <a:solidFill>
            <a:srgbClr val="F4F5F7"/>
          </a:solidFill>
          <a:ln/>
        </p:spPr>
      </p:sp>
      <p:sp>
        <p:nvSpPr>
          <p:cNvPr id="5" name="Shape 3"/>
          <p:cNvSpPr/>
          <p:nvPr/>
        </p:nvSpPr>
        <p:spPr>
          <a:xfrm>
            <a:off x="740664" y="1719072"/>
            <a:ext cx="164592" cy="164592"/>
          </a:xfrm>
          <a:prstGeom prst="ellipse">
            <a:avLst/>
          </a:prstGeom>
          <a:solidFill>
            <a:srgbClr val="3987E5"/>
          </a:solidFill>
          <a:ln/>
        </p:spPr>
      </p:sp>
      <p:sp>
        <p:nvSpPr>
          <p:cNvPr id="6" name="Text 4"/>
          <p:cNvSpPr/>
          <p:nvPr/>
        </p:nvSpPr>
        <p:spPr>
          <a:xfrm>
            <a:off x="1014984" y="16002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181D"/>
                </a:solidFill>
              </a:rPr>
              <a:t>The witness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758952" y="2057400"/>
            <a:ext cx="310896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2514E"/>
                </a:solidFill>
              </a:rPr>
              <a:t>any passer-by · uses only WhatsApp, nothing to install · gets progress + closure, so they report again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25112" y="1417320"/>
            <a:ext cx="3584448" cy="2286000"/>
          </a:xfrm>
          <a:prstGeom prst="roundRect">
            <a:avLst>
              <a:gd name="adj" fmla="val 4000"/>
            </a:avLst>
          </a:prstGeom>
          <a:solidFill>
            <a:srgbClr val="F4F5F7"/>
          </a:solidFill>
          <a:ln/>
        </p:spPr>
      </p:sp>
      <p:sp>
        <p:nvSpPr>
          <p:cNvPr id="9" name="Shape 7"/>
          <p:cNvSpPr/>
          <p:nvPr/>
        </p:nvSpPr>
        <p:spPr>
          <a:xfrm>
            <a:off x="4562856" y="1719072"/>
            <a:ext cx="164592" cy="164592"/>
          </a:xfrm>
          <a:prstGeom prst="ellipse">
            <a:avLst/>
          </a:prstGeom>
          <a:solidFill>
            <a:srgbClr val="199E70"/>
          </a:solidFill>
          <a:ln/>
        </p:spPr>
      </p:sp>
      <p:sp>
        <p:nvSpPr>
          <p:cNvPr id="10" name="Text 8"/>
          <p:cNvSpPr/>
          <p:nvPr/>
        </p:nvSpPr>
        <p:spPr>
          <a:xfrm>
            <a:off x="4837176" y="16002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181D"/>
                </a:solidFill>
              </a:rPr>
              <a:t>The responder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4581144" y="2057400"/>
            <a:ext cx="310896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2514E"/>
                </a:solidFill>
              </a:rPr>
              <a:t>vetted NGO field worker · gets the offer ping with kit, distance, DIGIPIN · one tap records the outcome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147304" y="1417320"/>
            <a:ext cx="3584448" cy="2286000"/>
          </a:xfrm>
          <a:prstGeom prst="roundRect">
            <a:avLst>
              <a:gd name="adj" fmla="val 4000"/>
            </a:avLst>
          </a:prstGeom>
          <a:solidFill>
            <a:srgbClr val="F4F5F7"/>
          </a:solidFill>
          <a:ln/>
        </p:spPr>
      </p:sp>
      <p:sp>
        <p:nvSpPr>
          <p:cNvPr id="13" name="Shape 11"/>
          <p:cNvSpPr/>
          <p:nvPr/>
        </p:nvSpPr>
        <p:spPr>
          <a:xfrm>
            <a:off x="8385048" y="1719072"/>
            <a:ext cx="164592" cy="164592"/>
          </a:xfrm>
          <a:prstGeom prst="ellipse">
            <a:avLst/>
          </a:prstGeom>
          <a:solidFill>
            <a:srgbClr val="D95926"/>
          </a:solidFill>
          <a:ln/>
        </p:spPr>
      </p:sp>
      <p:sp>
        <p:nvSpPr>
          <p:cNvPr id="14" name="Text 12"/>
          <p:cNvSpPr/>
          <p:nvPr/>
        </p:nvSpPr>
        <p:spPr>
          <a:xfrm>
            <a:off x="8659368" y="16002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181D"/>
                </a:solidFill>
              </a:rPr>
              <a:t>The coordinator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8403336" y="2057400"/>
            <a:ext cx="310896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2514E"/>
                </a:solidFill>
              </a:rPr>
              <a:t>NGO staff · watches the control room · handles the edge cases the system refuses to guess at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02920" y="4069080"/>
            <a:ext cx="11183112" cy="1691640"/>
          </a:xfrm>
          <a:prstGeom prst="roundRect">
            <a:avLst>
              <a:gd name="adj" fmla="val 5405"/>
            </a:avLst>
          </a:prstGeom>
          <a:solidFill>
            <a:srgbClr val="0D0D0D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429768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600" b="1" dirty="0">
                <a:solidFill>
                  <a:srgbClr val="FFFFFF"/>
                </a:solidFill>
              </a:rPr>
              <a:t>The person in need is served — never enrolled.  </a:t>
            </a:r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C3C2B7"/>
                </a:solidFill>
              </a:rPr>
              <a:t>No name, no photo of a face, no profile is ever stored. Exact locations are wiped once a case closes; after 90 days only coarse heat-cells remain. In a country that still criminalises begging, the strongest protection is that the dangerous database never exists.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02920" y="6035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2514E"/>
                </a:solidFill>
              </a:rPr>
              <a:t>Dignity is a design constraint, not a caption.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384048"/>
            <a:ext cx="111831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months to truth, twelve to scale — or an honest stop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3987E5"/>
                </a:solidFill>
              </a:rPr>
              <a:t>NEXT 3 MONTHS — ONE ZONE, REAL PEOPLE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02920" y="1737360"/>
            <a:ext cx="55778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6181D"/>
                </a:solidFill>
              </a:rPr>
              <a:t>Real WhatsApp number live (transport is built — onboarding is configuration)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6181D"/>
                </a:solidFill>
              </a:rPr>
              <a:t>One NGO partner, 6–10 rostered responders, Nizamuddin pilot zone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6181D"/>
                </a:solidFill>
              </a:rPr>
              <a:t>Hindi/Hinglish voice-note speech-to-text bake-off (Sarvam vs Whisper)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6181D"/>
                </a:solidFill>
              </a:rPr>
              <a:t>8-week pilot measured against pre-registered kill criteria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537960" y="137160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199E70"/>
                </a:solidFill>
              </a:rPr>
              <a:t>BY 12 MONTHS — IF THE NUMBERS HOLD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537960" y="1737360"/>
            <a:ext cx="5212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6181D"/>
                </a:solidFill>
              </a:rPr>
              <a:t>Three zones, two partners — onboarding a partner is config + a playbook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6181D"/>
                </a:solidFill>
              </a:rPr>
              <a:t>Voice-first reporting; DPDP audit + published transparency report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6181D"/>
                </a:solidFill>
              </a:rPr>
              <a:t>Public dashboard of outcomes — the same one the funders see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02920" y="3977640"/>
            <a:ext cx="11183112" cy="1417320"/>
          </a:xfrm>
          <a:prstGeom prst="roundRect">
            <a:avLst>
              <a:gd name="adj" fmla="val 6452"/>
            </a:avLst>
          </a:prstGeom>
          <a:solidFill>
            <a:srgbClr val="F4F5F7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416052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16181D"/>
                </a:solidFill>
              </a:rPr>
              <a:t>Pre-registered kill criteria — public before the pilot starts:  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2514E"/>
                </a:solidFill>
              </a:rPr>
              <a:t>offer acceptance ≥ 50% · verified-need rate ≥ 40% · cost per person served ≤ ₹900 · backlog never outgrows capacity. If Wayside stops earning its numbers, its own dashboard says so — and we publish that and stop.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02920" y="571500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81D"/>
                </a:solidFill>
              </a:rPr>
              <a:t>Resources needed: </a:t>
            </a:r>
            <a:pPr indent="0" marL="0">
              <a:buNone/>
            </a:pPr>
            <a:r>
              <a:rPr lang="en-US" sz="1350" dirty="0">
                <a:solidFill>
                  <a:srgbClr val="52514E"/>
                </a:solidFill>
              </a:rPr>
              <a:t>pilot grant (kits, responder stipends, WhatsApp + AI costs, DPIA/legal review) · partner introductions · mentorship on NGO ops.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37160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📍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502920" y="2194560"/>
            <a:ext cx="10515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3800" b="1" dirty="0">
                <a:solidFill>
                  <a:srgbClr val="FFFFFF"/>
                </a:solidFill>
              </a:rPr>
              <a:t>No cameras.</a:t>
            </a:r>
            <a:endParaRPr lang="en-US" sz="38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3800" b="1" dirty="0">
                <a:solidFill>
                  <a:srgbClr val="FFFFFF"/>
                </a:solidFill>
              </a:rPr>
              <a:t>No database of the poor.</a:t>
            </a:r>
            <a:endParaRPr lang="en-US" sz="38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3800" b="1" dirty="0">
                <a:solidFill>
                  <a:srgbClr val="FFFFFF"/>
                </a:solidFill>
              </a:rPr>
              <a:t>No one left by the wayside.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02920" y="48920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3C2B7"/>
                </a:solidFill>
              </a:rPr>
              <a:t>The ask: pilot funding for one zone · introductions to Delhi street-outreach NGOs · a mentor who has run field ops.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02920" y="60350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98781"/>
                </a:solidFill>
              </a:rPr>
              <a:t>Rustom Dubash · rustommdubash@gmail.com · working demo, 2:22 video and full research corpus on request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2026-07-30T17:28:59Z</dcterms:created>
  <dcterms:modified xsi:type="dcterms:W3CDTF">2026-07-30T17:28:59Z</dcterms:modified>
</cp:coreProperties>
</file>