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1371600"/>
            <a:ext cx="10515600" cy="274320"/>
          </a:xfrm>
          <a:prstGeom prst="rect">
            <a:avLst/>
          </a:prstGeom>
          <a:noFill/>
          <a:ln/>
        </p:spPr>
        <p:txBody>
          <a:bodyPr wrap="square" lIns="0" tIns="0" rIns="0" bIns="0" rtlCol="0" anchor="ctr"/>
          <a:lstStyle/>
          <a:p>
            <a:pPr indent="0" marL="0">
              <a:buNone/>
            </a:pPr>
            <a:r>
              <a:rPr lang="en-US" sz="1150" spc="300" kern="0" dirty="0">
                <a:solidFill>
                  <a:srgbClr val="F2A93B"/>
                </a:solidFill>
                <a:latin typeface="Courier New" pitchFamily="34" charset="0"/>
                <a:ea typeface="Courier New" pitchFamily="34" charset="-122"/>
                <a:cs typeface="Courier New" pitchFamily="34" charset="-120"/>
              </a:rPr>
              <a:t>KEVIN XU INNOVATION CHALLENGE — EQUITECH ALUMNI TRACK</a:t>
            </a:r>
            <a:endParaRPr lang="en-US" sz="1150" dirty="0"/>
          </a:p>
        </p:txBody>
      </p:sp>
      <p:sp>
        <p:nvSpPr>
          <p:cNvPr id="3" name="Text 1"/>
          <p:cNvSpPr/>
          <p:nvPr/>
        </p:nvSpPr>
        <p:spPr>
          <a:xfrm>
            <a:off x="502920" y="1783080"/>
            <a:ext cx="10515600" cy="1463040"/>
          </a:xfrm>
          <a:prstGeom prst="rect">
            <a:avLst/>
          </a:prstGeom>
          <a:noFill/>
          <a:ln/>
        </p:spPr>
        <p:txBody>
          <a:bodyPr wrap="square" lIns="0" tIns="0" rIns="0" bIns="0" rtlCol="0" anchor="ctr"/>
          <a:lstStyle/>
          <a:p>
            <a:pPr indent="0" marL="0">
              <a:buNone/>
            </a:pPr>
            <a:r>
              <a:rPr lang="en-US" sz="7400" b="1" dirty="0">
                <a:solidFill>
                  <a:srgbClr val="ECE9E2"/>
                </a:solidFill>
                <a:latin typeface="Georgia" pitchFamily="34" charset="0"/>
                <a:ea typeface="Georgia" pitchFamily="34" charset="-122"/>
                <a:cs typeface="Georgia" pitchFamily="34" charset="-120"/>
              </a:rPr>
              <a:t>Wayside</a:t>
            </a:r>
            <a:pPr indent="0" marL="0">
              <a:buNone/>
            </a:pPr>
            <a:r>
              <a:rPr lang="en-US" sz="7400" b="1" dirty="0">
                <a:solidFill>
                  <a:srgbClr val="F2A93B"/>
                </a:solidFill>
                <a:latin typeface="Georgia" pitchFamily="34" charset="0"/>
                <a:ea typeface="Georgia" pitchFamily="34" charset="-122"/>
                <a:cs typeface="Georgia" pitchFamily="34" charset="-120"/>
              </a:rPr>
              <a:t>.</a:t>
            </a:r>
            <a:endParaRPr lang="en-US" sz="7400" dirty="0"/>
          </a:p>
        </p:txBody>
      </p:sp>
      <p:sp>
        <p:nvSpPr>
          <p:cNvPr id="4" name="Text 2"/>
          <p:cNvSpPr/>
          <p:nvPr/>
        </p:nvSpPr>
        <p:spPr>
          <a:xfrm>
            <a:off x="502920" y="3246120"/>
            <a:ext cx="8229600" cy="502920"/>
          </a:xfrm>
          <a:prstGeom prst="rect">
            <a:avLst/>
          </a:prstGeom>
          <a:noFill/>
          <a:ln/>
        </p:spPr>
        <p:txBody>
          <a:bodyPr wrap="square" lIns="0" tIns="0" rIns="0" bIns="0" rtlCol="0" anchor="ctr"/>
          <a:lstStyle/>
          <a:p>
            <a:pPr indent="0" marL="0">
              <a:buNone/>
            </a:pPr>
            <a:r>
              <a:rPr lang="en-US" sz="2200" i="1" dirty="0">
                <a:solidFill>
                  <a:srgbClr val="F2A93B"/>
                </a:solidFill>
                <a:latin typeface="Georgia" pitchFamily="34" charset="0"/>
                <a:ea typeface="Georgia" pitchFamily="34" charset="-122"/>
                <a:cs typeface="Georgia" pitchFamily="34" charset="-120"/>
              </a:rPr>
              <a:t>see it, send word.</a:t>
            </a:r>
            <a:endParaRPr lang="en-US" sz="2200" dirty="0"/>
          </a:p>
        </p:txBody>
      </p:sp>
      <p:sp>
        <p:nvSpPr>
          <p:cNvPr id="5" name="Text 3"/>
          <p:cNvSpPr/>
          <p:nvPr/>
        </p:nvSpPr>
        <p:spPr>
          <a:xfrm>
            <a:off x="502920" y="3886200"/>
            <a:ext cx="8778240" cy="914400"/>
          </a:xfrm>
          <a:prstGeom prst="rect">
            <a:avLst/>
          </a:prstGeom>
          <a:noFill/>
          <a:ln/>
        </p:spPr>
        <p:txBody>
          <a:bodyPr wrap="square" lIns="0" tIns="0" rIns="0" bIns="0" rtlCol="0" anchor="ctr"/>
          <a:lstStyle/>
          <a:p>
            <a:pPr indent="0" marL="0">
              <a:lnSpc>
                <a:spcPts val="2200"/>
              </a:lnSpc>
              <a:buNone/>
            </a:pPr>
            <a:r>
              <a:rPr lang="en-US" sz="1550" dirty="0">
                <a:solidFill>
                  <a:srgbClr val="C8C5BD"/>
                </a:solidFill>
                <a:latin typeface="Arial" pitchFamily="34" charset="0"/>
                <a:ea typeface="Arial" pitchFamily="34" charset="-122"/>
                <a:cs typeface="Arial" pitchFamily="34" charset="-120"/>
              </a:rPr>
              <a:t>One WhatsApp number turns anyone who stops on the street into the start of a real aid response — no app to download, no face on file, no database of the people it serves. Just a message that gets answered.</a:t>
            </a:r>
            <a:endParaRPr lang="en-US" sz="1550" dirty="0"/>
          </a:p>
        </p:txBody>
      </p:sp>
      <p:sp>
        <p:nvSpPr>
          <p:cNvPr id="6" name="Shape 4"/>
          <p:cNvSpPr/>
          <p:nvPr/>
        </p:nvSpPr>
        <p:spPr>
          <a:xfrm>
            <a:off x="502920" y="5074920"/>
            <a:ext cx="2926080" cy="475488"/>
          </a:xfrm>
          <a:prstGeom prst="roundRect">
            <a:avLst>
              <a:gd name="adj" fmla="val 50000"/>
            </a:avLst>
          </a:prstGeom>
          <a:solidFill>
            <a:srgbClr val="14161C"/>
          </a:solidFill>
          <a:ln w="12700">
            <a:solidFill>
              <a:srgbClr val="2A2E38"/>
            </a:solidFill>
            <a:prstDash val="solid"/>
          </a:ln>
        </p:spPr>
      </p:sp>
      <p:sp>
        <p:nvSpPr>
          <p:cNvPr id="7" name="Shape 5"/>
          <p:cNvSpPr/>
          <p:nvPr/>
        </p:nvSpPr>
        <p:spPr>
          <a:xfrm>
            <a:off x="704088" y="5248656"/>
            <a:ext cx="118872" cy="118872"/>
          </a:xfrm>
          <a:prstGeom prst="ellipse">
            <a:avLst/>
          </a:prstGeom>
          <a:solidFill>
            <a:srgbClr val="3987E5"/>
          </a:solidFill>
          <a:ln/>
        </p:spPr>
      </p:sp>
      <p:sp>
        <p:nvSpPr>
          <p:cNvPr id="8" name="Text 6"/>
          <p:cNvSpPr/>
          <p:nvPr/>
        </p:nvSpPr>
        <p:spPr>
          <a:xfrm>
            <a:off x="905256" y="5074920"/>
            <a:ext cx="2487168" cy="475488"/>
          </a:xfrm>
          <a:prstGeom prst="rect">
            <a:avLst/>
          </a:prstGeom>
          <a:noFill/>
          <a:ln/>
        </p:spPr>
        <p:txBody>
          <a:bodyPr wrap="square" lIns="0" tIns="0" rIns="0" bIns="0" rtlCol="0" anchor="ctr"/>
          <a:lstStyle/>
          <a:p>
            <a:pPr indent="0" marL="0">
              <a:buNone/>
            </a:pPr>
            <a:r>
              <a:rPr lang="en-US" sz="1200" dirty="0">
                <a:solidFill>
                  <a:srgbClr val="ECE9E2"/>
                </a:solidFill>
                <a:latin typeface="Arial" pitchFamily="34" charset="0"/>
                <a:ea typeface="Arial" pitchFamily="34" charset="-122"/>
                <a:cs typeface="Arial" pitchFamily="34" charset="-120"/>
              </a:rPr>
              <a:t>No cameras</a:t>
            </a:r>
            <a:endParaRPr lang="en-US" sz="1200" dirty="0"/>
          </a:p>
        </p:txBody>
      </p:sp>
      <p:sp>
        <p:nvSpPr>
          <p:cNvPr id="9" name="Shape 7"/>
          <p:cNvSpPr/>
          <p:nvPr/>
        </p:nvSpPr>
        <p:spPr>
          <a:xfrm>
            <a:off x="3630168" y="5074920"/>
            <a:ext cx="2926080" cy="475488"/>
          </a:xfrm>
          <a:prstGeom prst="roundRect">
            <a:avLst>
              <a:gd name="adj" fmla="val 50000"/>
            </a:avLst>
          </a:prstGeom>
          <a:solidFill>
            <a:srgbClr val="14161C"/>
          </a:solidFill>
          <a:ln w="12700">
            <a:solidFill>
              <a:srgbClr val="2A2E38"/>
            </a:solidFill>
            <a:prstDash val="solid"/>
          </a:ln>
        </p:spPr>
      </p:sp>
      <p:sp>
        <p:nvSpPr>
          <p:cNvPr id="10" name="Shape 8"/>
          <p:cNvSpPr/>
          <p:nvPr/>
        </p:nvSpPr>
        <p:spPr>
          <a:xfrm>
            <a:off x="3831336" y="5248656"/>
            <a:ext cx="118872" cy="118872"/>
          </a:xfrm>
          <a:prstGeom prst="ellipse">
            <a:avLst/>
          </a:prstGeom>
          <a:solidFill>
            <a:srgbClr val="199E70"/>
          </a:solidFill>
          <a:ln/>
        </p:spPr>
      </p:sp>
      <p:sp>
        <p:nvSpPr>
          <p:cNvPr id="11" name="Text 9"/>
          <p:cNvSpPr/>
          <p:nvPr/>
        </p:nvSpPr>
        <p:spPr>
          <a:xfrm>
            <a:off x="4032504" y="5074920"/>
            <a:ext cx="2487168" cy="475488"/>
          </a:xfrm>
          <a:prstGeom prst="rect">
            <a:avLst/>
          </a:prstGeom>
          <a:noFill/>
          <a:ln/>
        </p:spPr>
        <p:txBody>
          <a:bodyPr wrap="square" lIns="0" tIns="0" rIns="0" bIns="0" rtlCol="0" anchor="ctr"/>
          <a:lstStyle/>
          <a:p>
            <a:pPr indent="0" marL="0">
              <a:buNone/>
            </a:pPr>
            <a:r>
              <a:rPr lang="en-US" sz="1200" dirty="0">
                <a:solidFill>
                  <a:srgbClr val="ECE9E2"/>
                </a:solidFill>
                <a:latin typeface="Arial" pitchFamily="34" charset="0"/>
                <a:ea typeface="Arial" pitchFamily="34" charset="-122"/>
                <a:cs typeface="Arial" pitchFamily="34" charset="-120"/>
              </a:rPr>
              <a:t>No database of the poor</a:t>
            </a:r>
            <a:endParaRPr lang="en-US" sz="1200" dirty="0"/>
          </a:p>
        </p:txBody>
      </p:sp>
      <p:sp>
        <p:nvSpPr>
          <p:cNvPr id="12" name="Shape 10"/>
          <p:cNvSpPr/>
          <p:nvPr/>
        </p:nvSpPr>
        <p:spPr>
          <a:xfrm>
            <a:off x="6757416" y="5074920"/>
            <a:ext cx="2926080" cy="475488"/>
          </a:xfrm>
          <a:prstGeom prst="roundRect">
            <a:avLst>
              <a:gd name="adj" fmla="val 50000"/>
            </a:avLst>
          </a:prstGeom>
          <a:solidFill>
            <a:srgbClr val="14161C"/>
          </a:solidFill>
          <a:ln w="12700">
            <a:solidFill>
              <a:srgbClr val="2A2E38"/>
            </a:solidFill>
            <a:prstDash val="solid"/>
          </a:ln>
        </p:spPr>
      </p:sp>
      <p:sp>
        <p:nvSpPr>
          <p:cNvPr id="13" name="Shape 11"/>
          <p:cNvSpPr/>
          <p:nvPr/>
        </p:nvSpPr>
        <p:spPr>
          <a:xfrm>
            <a:off x="6958584" y="5248656"/>
            <a:ext cx="118872" cy="118872"/>
          </a:xfrm>
          <a:prstGeom prst="ellipse">
            <a:avLst/>
          </a:prstGeom>
          <a:solidFill>
            <a:srgbClr val="0CA30C"/>
          </a:solidFill>
          <a:ln/>
        </p:spPr>
      </p:sp>
      <p:sp>
        <p:nvSpPr>
          <p:cNvPr id="14" name="Text 12"/>
          <p:cNvSpPr/>
          <p:nvPr/>
        </p:nvSpPr>
        <p:spPr>
          <a:xfrm>
            <a:off x="7159752" y="5074920"/>
            <a:ext cx="2487168" cy="475488"/>
          </a:xfrm>
          <a:prstGeom prst="rect">
            <a:avLst/>
          </a:prstGeom>
          <a:noFill/>
          <a:ln/>
        </p:spPr>
        <p:txBody>
          <a:bodyPr wrap="square" lIns="0" tIns="0" rIns="0" bIns="0" rtlCol="0" anchor="ctr"/>
          <a:lstStyle/>
          <a:p>
            <a:pPr indent="0" marL="0">
              <a:buNone/>
            </a:pPr>
            <a:r>
              <a:rPr lang="en-US" sz="1200" dirty="0">
                <a:solidFill>
                  <a:srgbClr val="ECE9E2"/>
                </a:solidFill>
                <a:latin typeface="Arial" pitchFamily="34" charset="0"/>
                <a:ea typeface="Arial" pitchFamily="34" charset="-122"/>
                <a:cs typeface="Arial" pitchFamily="34" charset="-120"/>
              </a:rPr>
              <a:t>Working demo · 111 tests</a:t>
            </a:r>
            <a:endParaRPr lang="en-US" sz="1200" dirty="0"/>
          </a:p>
        </p:txBody>
      </p:sp>
      <p:sp>
        <p:nvSpPr>
          <p:cNvPr id="15" name="Text 13"/>
          <p:cNvSpPr/>
          <p:nvPr/>
        </p:nvSpPr>
        <p:spPr>
          <a:xfrm>
            <a:off x="502920" y="6126480"/>
            <a:ext cx="9601200" cy="320040"/>
          </a:xfrm>
          <a:prstGeom prst="rect">
            <a:avLst/>
          </a:prstGeom>
          <a:noFill/>
          <a:ln/>
        </p:spPr>
        <p:txBody>
          <a:bodyPr wrap="square" lIns="0" tIns="0" rIns="0" bIns="0" rtlCol="0" anchor="ctr"/>
          <a:lstStyle/>
          <a:p>
            <a:pPr indent="0" marL="0">
              <a:buNone/>
            </a:pPr>
            <a:r>
              <a:rPr lang="en-US" sz="1250" dirty="0">
                <a:solidFill>
                  <a:srgbClr val="8B8A82"/>
                </a:solidFill>
                <a:latin typeface="Courier New" pitchFamily="34" charset="0"/>
                <a:ea typeface="Courier New" pitchFamily="34" charset="-122"/>
                <a:cs typeface="Courier New" pitchFamily="34" charset="-120"/>
              </a:rPr>
              <a:t>Kevin Xu Innovation Challenge  ·  Rustom Dubash  ·  Equitech alum</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01 — THE PROBLEM</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Everyone walks past, because there's nothing to do</a:t>
            </a:r>
            <a:endParaRPr lang="en-US" sz="3200" dirty="0"/>
          </a:p>
        </p:txBody>
      </p:sp>
      <p:sp>
        <p:nvSpPr>
          <p:cNvPr id="4" name="Text 2"/>
          <p:cNvSpPr/>
          <p:nvPr/>
        </p:nvSpPr>
        <p:spPr>
          <a:xfrm>
            <a:off x="502920" y="1965960"/>
            <a:ext cx="7315200" cy="3200400"/>
          </a:xfrm>
          <a:prstGeom prst="rect">
            <a:avLst/>
          </a:prstGeom>
          <a:noFill/>
          <a:ln/>
        </p:spPr>
        <p:txBody>
          <a:bodyPr wrap="square" lIns="0" tIns="0" rIns="0" bIns="0" rtlCol="0" anchor="ctr"/>
          <a:lstStyle/>
          <a:p>
            <a:pPr indent="0" marL="0">
              <a:lnSpc>
                <a:spcPts val="2200"/>
              </a:lnSpc>
              <a:buNone/>
            </a:pPr>
            <a:r>
              <a:rPr lang="en-US" sz="1550" dirty="0">
                <a:solidFill>
                  <a:srgbClr val="C8C5BD"/>
                </a:solidFill>
                <a:latin typeface="Arial" pitchFamily="34" charset="0"/>
                <a:ea typeface="Arial" pitchFamily="34" charset="-122"/>
                <a:cs typeface="Arial" pitchFamily="34" charset="-120"/>
              </a:rPr>
              <a:t>You see a man under a flyover. His foot is wrapped in a bandage that's gone through and darkened again. You stop — for a second, you actually stop. And then: what?
</a:t>
            </a:r>
            <a:pPr indent="0" marL="0">
              <a:lnSpc>
                <a:spcPts val="2200"/>
              </a:lnSpc>
              <a:buNone/>
            </a:pPr>
            <a:r>
              <a:rPr lang="en-US" sz="1550" dirty="0">
                <a:solidFill>
                  <a:srgbClr val="C8C5BD"/>
                </a:solidFill>
                <a:latin typeface="Arial" pitchFamily="34" charset="0"/>
                <a:ea typeface="Arial" pitchFamily="34" charset="-122"/>
                <a:cs typeface="Arial" pitchFamily="34" charset="-120"/>
              </a:rPr>
              <a:t>112 is for emergencies, and a soaked bandage doesn't sound like one on the phone. The helpline numbers people forward on WhatsApp ring out or go to voicemail. Handing over cash can, in some cities, turn into a police matter for </a:t>
            </a:r>
            <a:pPr indent="0" marL="0">
              <a:lnSpc>
                <a:spcPts val="2200"/>
              </a:lnSpc>
              <a:buNone/>
            </a:pPr>
            <a:r>
              <a:rPr lang="en-US" sz="1550" i="1" dirty="0">
                <a:solidFill>
                  <a:srgbClr val="C8C5BD"/>
                </a:solidFill>
                <a:latin typeface="Arial" pitchFamily="34" charset="0"/>
                <a:ea typeface="Arial" pitchFamily="34" charset="-122"/>
                <a:cs typeface="Arial" pitchFamily="34" charset="-120"/>
              </a:rPr>
              <a:t>him</a:t>
            </a:r>
            <a:pPr indent="0" marL="0">
              <a:lnSpc>
                <a:spcPts val="2200"/>
              </a:lnSpc>
              <a:buNone/>
            </a:pPr>
            <a:r>
              <a:rPr lang="en-US" sz="1550" dirty="0">
                <a:solidFill>
                  <a:srgbClr val="C8C5BD"/>
                </a:solidFill>
                <a:latin typeface="Arial" pitchFamily="34" charset="0"/>
                <a:ea typeface="Arial" pitchFamily="34" charset="-122"/>
                <a:cs typeface="Arial" pitchFamily="34" charset="-120"/>
              </a:rPr>
              <a:t>, not you.
</a:t>
            </a:r>
            <a:pPr indent="0" marL="0">
              <a:lnSpc>
                <a:spcPts val="2200"/>
              </a:lnSpc>
              <a:buNone/>
            </a:pPr>
            <a:r>
              <a:rPr lang="en-US" sz="1550" dirty="0">
                <a:solidFill>
                  <a:srgbClr val="C8C5BD"/>
                </a:solidFill>
                <a:latin typeface="Arial" pitchFamily="34" charset="0"/>
                <a:ea typeface="Arial" pitchFamily="34" charset="-122"/>
                <a:cs typeface="Arial" pitchFamily="34" charset="-120"/>
              </a:rPr>
              <a:t>So you do the only thing left: you keep walking. The two minutes you were willing to give evaporate — the same way they do for the next person, every day, in every city.</a:t>
            </a:r>
            <a:endParaRPr lang="en-US" sz="1550" dirty="0"/>
          </a:p>
        </p:txBody>
      </p:sp>
      <p:sp>
        <p:nvSpPr>
          <p:cNvPr id="5" name="Shape 3"/>
          <p:cNvSpPr/>
          <p:nvPr/>
        </p:nvSpPr>
        <p:spPr>
          <a:xfrm>
            <a:off x="7818120" y="1965960"/>
            <a:ext cx="3867912" cy="3749040"/>
          </a:xfrm>
          <a:prstGeom prst="roundRect">
            <a:avLst>
              <a:gd name="adj" fmla="val 2195"/>
            </a:avLst>
          </a:prstGeom>
          <a:solidFill>
            <a:srgbClr val="14161C"/>
          </a:solidFill>
          <a:ln w="12700">
            <a:solidFill>
              <a:srgbClr val="2A2E38"/>
            </a:solidFill>
            <a:prstDash val="solid"/>
          </a:ln>
        </p:spPr>
      </p:sp>
      <p:sp>
        <p:nvSpPr>
          <p:cNvPr id="6" name="Text 4"/>
          <p:cNvSpPr/>
          <p:nvPr/>
        </p:nvSpPr>
        <p:spPr>
          <a:xfrm>
            <a:off x="8092440" y="2212848"/>
            <a:ext cx="3383280" cy="274320"/>
          </a:xfrm>
          <a:prstGeom prst="rect">
            <a:avLst/>
          </a:prstGeom>
          <a:noFill/>
          <a:ln/>
        </p:spPr>
        <p:txBody>
          <a:bodyPr wrap="square" lIns="0" tIns="0" rIns="0" bIns="0" rtlCol="0" anchor="ctr"/>
          <a:lstStyle/>
          <a:p>
            <a:pPr indent="0" marL="0">
              <a:buNone/>
            </a:pPr>
            <a:r>
              <a:rPr lang="en-US" sz="1050" spc="200" kern="0" dirty="0">
                <a:solidFill>
                  <a:srgbClr val="F2A93B"/>
                </a:solidFill>
                <a:latin typeface="Courier New" pitchFamily="34" charset="0"/>
                <a:ea typeface="Courier New" pitchFamily="34" charset="-122"/>
                <a:cs typeface="Courier New" pitchFamily="34" charset="-120"/>
              </a:rPr>
              <a:t>WHO IT AFFECTS</a:t>
            </a:r>
            <a:endParaRPr lang="en-US" sz="1050" dirty="0"/>
          </a:p>
        </p:txBody>
      </p:sp>
      <p:sp>
        <p:nvSpPr>
          <p:cNvPr id="7" name="Text 5"/>
          <p:cNvSpPr/>
          <p:nvPr/>
        </p:nvSpPr>
        <p:spPr>
          <a:xfrm>
            <a:off x="8092440" y="2560320"/>
            <a:ext cx="3337560" cy="1554480"/>
          </a:xfrm>
          <a:prstGeom prst="rect">
            <a:avLst/>
          </a:prstGeom>
          <a:noFill/>
          <a:ln/>
        </p:spPr>
        <p:txBody>
          <a:bodyPr wrap="square" lIns="0" tIns="0" rIns="0" bIns="0" rtlCol="0" anchor="ctr"/>
          <a:lstStyle/>
          <a:p>
            <a:pPr indent="0" marL="0">
              <a:lnSpc>
                <a:spcPts val="1800"/>
              </a:lnSpc>
              <a:buNone/>
            </a:pPr>
            <a:r>
              <a:rPr lang="en-US" sz="1250" dirty="0">
                <a:solidFill>
                  <a:srgbClr val="C8C5BD"/>
                </a:solidFill>
                <a:latin typeface="Arial" pitchFamily="34" charset="0"/>
                <a:ea typeface="Arial" pitchFamily="34" charset="-122"/>
                <a:cs typeface="Arial" pitchFamily="34" charset="-120"/>
              </a:rPr>
              <a:t>More than 1.7 million people sleep on India's streets. Injuries go septic, hunger and exposure do their quiet work every winter and monsoon — not dramatically, just steadily, unwitnessed by anyone with the power to act.</a:t>
            </a:r>
            <a:endParaRPr lang="en-US" sz="1250" dirty="0"/>
          </a:p>
        </p:txBody>
      </p:sp>
      <p:sp>
        <p:nvSpPr>
          <p:cNvPr id="8" name="Text 6"/>
          <p:cNvSpPr/>
          <p:nvPr/>
        </p:nvSpPr>
        <p:spPr>
          <a:xfrm>
            <a:off x="8092440" y="4206240"/>
            <a:ext cx="3383280" cy="274320"/>
          </a:xfrm>
          <a:prstGeom prst="rect">
            <a:avLst/>
          </a:prstGeom>
          <a:noFill/>
          <a:ln/>
        </p:spPr>
        <p:txBody>
          <a:bodyPr wrap="square" lIns="0" tIns="0" rIns="0" bIns="0" rtlCol="0" anchor="ctr"/>
          <a:lstStyle/>
          <a:p>
            <a:pPr indent="0" marL="0">
              <a:buNone/>
            </a:pPr>
            <a:r>
              <a:rPr lang="en-US" sz="1050" spc="200" kern="0" dirty="0">
                <a:solidFill>
                  <a:srgbClr val="F2A93B"/>
                </a:solidFill>
                <a:latin typeface="Courier New" pitchFamily="34" charset="0"/>
                <a:ea typeface="Courier New" pitchFamily="34" charset="-122"/>
                <a:cs typeface="Courier New" pitchFamily="34" charset="-120"/>
              </a:rPr>
              <a:t>WHY CARE NOW</a:t>
            </a:r>
            <a:endParaRPr lang="en-US" sz="1050" dirty="0"/>
          </a:p>
        </p:txBody>
      </p:sp>
      <p:sp>
        <p:nvSpPr>
          <p:cNvPr id="9" name="Text 7"/>
          <p:cNvSpPr/>
          <p:nvPr/>
        </p:nvSpPr>
        <p:spPr>
          <a:xfrm>
            <a:off x="8092440" y="4553712"/>
            <a:ext cx="3337560" cy="1097280"/>
          </a:xfrm>
          <a:prstGeom prst="rect">
            <a:avLst/>
          </a:prstGeom>
          <a:noFill/>
          <a:ln/>
        </p:spPr>
        <p:txBody>
          <a:bodyPr wrap="square" lIns="0" tIns="0" rIns="0" bIns="0" rtlCol="0" anchor="ctr"/>
          <a:lstStyle/>
          <a:p>
            <a:pPr indent="0" marL="0">
              <a:lnSpc>
                <a:spcPts val="1800"/>
              </a:lnSpc>
              <a:buNone/>
            </a:pPr>
            <a:r>
              <a:rPr lang="en-US" sz="1250" dirty="0">
                <a:solidFill>
                  <a:srgbClr val="C8C5BD"/>
                </a:solidFill>
                <a:latin typeface="Arial" pitchFamily="34" charset="0"/>
                <a:ea typeface="Arial" pitchFamily="34" charset="-122"/>
                <a:cs typeface="Arial" pitchFamily="34" charset="-120"/>
              </a:rPr>
              <a:t>It isn't only their problem — it's the passer-by's too. The one who wanted to do something real, and found no channel built for the two minutes they had.</a:t>
            </a:r>
            <a:endParaRPr lang="en-US" sz="1250" dirty="0"/>
          </a:p>
        </p:txBody>
      </p:sp>
      <p:sp>
        <p:nvSpPr>
          <p:cNvPr id="10" name="Shape 8"/>
          <p:cNvSpPr/>
          <p:nvPr/>
        </p:nvSpPr>
        <p:spPr>
          <a:xfrm>
            <a:off x="502920" y="6117336"/>
            <a:ext cx="8686800" cy="0"/>
          </a:xfrm>
          <a:prstGeom prst="line">
            <a:avLst/>
          </a:prstGeom>
          <a:noFill/>
          <a:ln w="9525">
            <a:solidFill>
              <a:srgbClr val="2A2E38"/>
            </a:solidFill>
            <a:prstDash val="solid"/>
          </a:ln>
        </p:spPr>
      </p:sp>
      <p:sp>
        <p:nvSpPr>
          <p:cNvPr id="11" name="Text 9"/>
          <p:cNvSpPr/>
          <p:nvPr/>
        </p:nvSpPr>
        <p:spPr>
          <a:xfrm>
            <a:off x="502920" y="6263640"/>
            <a:ext cx="868680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The gap isn't compassion. It's a channel that answers.</a:t>
            </a:r>
            <a:endParaRPr lang="en-US" sz="1450" dirty="0"/>
          </a:p>
        </p:txBody>
      </p:sp>
      <p:sp>
        <p:nvSpPr>
          <p:cNvPr id="12" name="Text 10"/>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2/13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01 — THE PROBLEM, IN NUMBERS</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Two answers already exist. Both fail.</a:t>
            </a:r>
            <a:endParaRPr lang="en-US" sz="3200" dirty="0"/>
          </a:p>
        </p:txBody>
      </p:sp>
      <p:sp>
        <p:nvSpPr>
          <p:cNvPr id="4" name="Text 2"/>
          <p:cNvSpPr/>
          <p:nvPr/>
        </p:nvSpPr>
        <p:spPr>
          <a:xfrm>
            <a:off x="502920" y="1783080"/>
            <a:ext cx="9601200" cy="822960"/>
          </a:xfrm>
          <a:prstGeom prst="rect">
            <a:avLst/>
          </a:prstGeom>
          <a:noFill/>
          <a:ln/>
        </p:spPr>
        <p:txBody>
          <a:bodyPr wrap="square" lIns="0" tIns="0" rIns="0" bIns="0" rtlCol="0" anchor="ctr"/>
          <a:lstStyle/>
          <a:p>
            <a:pPr indent="0" marL="0">
              <a:lnSpc>
                <a:spcPts val="2000"/>
              </a:lnSpc>
              <a:buNone/>
            </a:pPr>
            <a:r>
              <a:rPr lang="en-US" sz="1500" dirty="0">
                <a:solidFill>
                  <a:srgbClr val="C8C5BD"/>
                </a:solidFill>
                <a:latin typeface="Arial" pitchFamily="34" charset="0"/>
                <a:ea typeface="Arial" pitchFamily="34" charset="-122"/>
                <a:cs typeface="Arial" pitchFamily="34" charset="-120"/>
              </a:rPr>
              <a:t>One end of the spectrum watches too much. The other answers too little.</a:t>
            </a:r>
            <a:endParaRPr lang="en-US" sz="1500" dirty="0"/>
          </a:p>
        </p:txBody>
      </p:sp>
      <p:sp>
        <p:nvSpPr>
          <p:cNvPr id="5" name="Shape 3"/>
          <p:cNvSpPr/>
          <p:nvPr/>
        </p:nvSpPr>
        <p:spPr>
          <a:xfrm>
            <a:off x="502920" y="2560320"/>
            <a:ext cx="3566160" cy="3108960"/>
          </a:xfrm>
          <a:prstGeom prst="roundRect">
            <a:avLst>
              <a:gd name="adj" fmla="val 3529"/>
            </a:avLst>
          </a:prstGeom>
          <a:solidFill>
            <a:srgbClr val="14161C"/>
          </a:solidFill>
          <a:ln w="12700">
            <a:solidFill>
              <a:srgbClr val="2A2E38"/>
            </a:solidFill>
            <a:prstDash val="solid"/>
          </a:ln>
        </p:spPr>
      </p:sp>
      <p:sp>
        <p:nvSpPr>
          <p:cNvPr id="6" name="Text 4"/>
          <p:cNvSpPr/>
          <p:nvPr/>
        </p:nvSpPr>
        <p:spPr>
          <a:xfrm>
            <a:off x="822960" y="2880360"/>
            <a:ext cx="2926080" cy="1051560"/>
          </a:xfrm>
          <a:prstGeom prst="rect">
            <a:avLst/>
          </a:prstGeom>
          <a:noFill/>
          <a:ln/>
        </p:spPr>
        <p:txBody>
          <a:bodyPr wrap="square" lIns="0" tIns="0" rIns="0" bIns="0" rtlCol="0" anchor="ctr"/>
          <a:lstStyle/>
          <a:p>
            <a:pPr indent="0" marL="0">
              <a:buNone/>
            </a:pPr>
            <a:r>
              <a:rPr lang="en-US" sz="4600" b="1" dirty="0">
                <a:solidFill>
                  <a:srgbClr val="E0625D"/>
                </a:solidFill>
                <a:latin typeface="Courier New" pitchFamily="34" charset="0"/>
                <a:ea typeface="Courier New" pitchFamily="34" charset="-122"/>
                <a:cs typeface="Courier New" pitchFamily="34" charset="-120"/>
              </a:rPr>
              <a:t>10–15%</a:t>
            </a:r>
            <a:endParaRPr lang="en-US" sz="4600" dirty="0"/>
          </a:p>
        </p:txBody>
      </p:sp>
      <p:sp>
        <p:nvSpPr>
          <p:cNvPr id="7" name="Text 5"/>
          <p:cNvSpPr/>
          <p:nvPr/>
        </p:nvSpPr>
        <p:spPr>
          <a:xfrm>
            <a:off x="822960" y="4023360"/>
            <a:ext cx="2971800" cy="1417320"/>
          </a:xfrm>
          <a:prstGeom prst="rect">
            <a:avLst/>
          </a:prstGeom>
          <a:noFill/>
          <a:ln/>
        </p:spPr>
        <p:txBody>
          <a:bodyPr wrap="square" lIns="0" tIns="0" rIns="0" bIns="0" rtlCol="0" anchor="ctr"/>
          <a:lstStyle/>
          <a:p>
            <a:pPr indent="0" marL="0">
              <a:lnSpc>
                <a:spcPts val="1800"/>
              </a:lnSpc>
              <a:buNone/>
            </a:pPr>
            <a:r>
              <a:rPr lang="en-US" sz="1300" dirty="0">
                <a:solidFill>
                  <a:srgbClr val="C8C5BD"/>
                </a:solidFill>
                <a:latin typeface="Arial" pitchFamily="34" charset="0"/>
                <a:ea typeface="Arial" pitchFamily="34" charset="-122"/>
                <a:cs typeface="Arial" pitchFamily="34" charset="-120"/>
              </a:rPr>
              <a:t>accuracy of San Jose's camera-AI homeless detection system — shut down in 2025</a:t>
            </a:r>
            <a:endParaRPr lang="en-US" sz="1300" dirty="0"/>
          </a:p>
        </p:txBody>
      </p:sp>
      <p:sp>
        <p:nvSpPr>
          <p:cNvPr id="8" name="Shape 6"/>
          <p:cNvSpPr/>
          <p:nvPr/>
        </p:nvSpPr>
        <p:spPr>
          <a:xfrm>
            <a:off x="4279392" y="2560320"/>
            <a:ext cx="3566160" cy="3108960"/>
          </a:xfrm>
          <a:prstGeom prst="roundRect">
            <a:avLst>
              <a:gd name="adj" fmla="val 3529"/>
            </a:avLst>
          </a:prstGeom>
          <a:solidFill>
            <a:srgbClr val="14161C"/>
          </a:solidFill>
          <a:ln w="12700">
            <a:solidFill>
              <a:srgbClr val="2A2E38"/>
            </a:solidFill>
            <a:prstDash val="solid"/>
          </a:ln>
        </p:spPr>
      </p:sp>
      <p:sp>
        <p:nvSpPr>
          <p:cNvPr id="9" name="Text 7"/>
          <p:cNvSpPr/>
          <p:nvPr/>
        </p:nvSpPr>
        <p:spPr>
          <a:xfrm>
            <a:off x="4599432" y="2880360"/>
            <a:ext cx="2926080" cy="1051560"/>
          </a:xfrm>
          <a:prstGeom prst="rect">
            <a:avLst/>
          </a:prstGeom>
          <a:noFill/>
          <a:ln/>
        </p:spPr>
        <p:txBody>
          <a:bodyPr wrap="square" lIns="0" tIns="0" rIns="0" bIns="0" rtlCol="0" anchor="ctr"/>
          <a:lstStyle/>
          <a:p>
            <a:pPr indent="0" marL="0">
              <a:buNone/>
            </a:pPr>
            <a:r>
              <a:rPr lang="en-US" sz="4600" b="1" dirty="0">
                <a:solidFill>
                  <a:srgbClr val="F2A93B"/>
                </a:solidFill>
                <a:latin typeface="Courier New" pitchFamily="34" charset="0"/>
                <a:ea typeface="Courier New" pitchFamily="34" charset="-122"/>
                <a:cs typeface="Courier New" pitchFamily="34" charset="-120"/>
              </a:rPr>
              <a:t>23% / 5%</a:t>
            </a:r>
            <a:endParaRPr lang="en-US" sz="4600" dirty="0"/>
          </a:p>
        </p:txBody>
      </p:sp>
      <p:sp>
        <p:nvSpPr>
          <p:cNvPr id="10" name="Text 8"/>
          <p:cNvSpPr/>
          <p:nvPr/>
        </p:nvSpPr>
        <p:spPr>
          <a:xfrm>
            <a:off x="4599432" y="4023360"/>
            <a:ext cx="2971800" cy="1417320"/>
          </a:xfrm>
          <a:prstGeom prst="rect">
            <a:avLst/>
          </a:prstGeom>
          <a:noFill/>
          <a:ln/>
        </p:spPr>
        <p:txBody>
          <a:bodyPr wrap="square" lIns="0" tIns="0" rIns="0" bIns="0" rtlCol="0" anchor="ctr"/>
          <a:lstStyle/>
          <a:p>
            <a:pPr indent="0" marL="0">
              <a:lnSpc>
                <a:spcPts val="1800"/>
              </a:lnSpc>
              <a:buNone/>
            </a:pPr>
            <a:r>
              <a:rPr lang="en-US" sz="1300" dirty="0">
                <a:solidFill>
                  <a:srgbClr val="C8C5BD"/>
                </a:solidFill>
                <a:latin typeface="Arial" pitchFamily="34" charset="0"/>
                <a:ea typeface="Arial" pitchFamily="34" charset="-122"/>
                <a:cs typeface="Arial" pitchFamily="34" charset="-120"/>
              </a:rPr>
              <a:t>of UK StreetLink reports led to finding / housing the person — witnesses stop reporting into silence</a:t>
            </a:r>
            <a:endParaRPr lang="en-US" sz="1300" dirty="0"/>
          </a:p>
        </p:txBody>
      </p:sp>
      <p:sp>
        <p:nvSpPr>
          <p:cNvPr id="11" name="Shape 9"/>
          <p:cNvSpPr/>
          <p:nvPr/>
        </p:nvSpPr>
        <p:spPr>
          <a:xfrm>
            <a:off x="8055864" y="2560320"/>
            <a:ext cx="3566160" cy="3108960"/>
          </a:xfrm>
          <a:prstGeom prst="roundRect">
            <a:avLst>
              <a:gd name="adj" fmla="val 3529"/>
            </a:avLst>
          </a:prstGeom>
          <a:solidFill>
            <a:srgbClr val="14161C"/>
          </a:solidFill>
          <a:ln w="12700">
            <a:solidFill>
              <a:srgbClr val="2A2E38"/>
            </a:solidFill>
            <a:prstDash val="solid"/>
          </a:ln>
        </p:spPr>
      </p:sp>
      <p:sp>
        <p:nvSpPr>
          <p:cNvPr id="12" name="Text 10"/>
          <p:cNvSpPr/>
          <p:nvPr/>
        </p:nvSpPr>
        <p:spPr>
          <a:xfrm>
            <a:off x="8375904" y="2880360"/>
            <a:ext cx="2926080" cy="1051560"/>
          </a:xfrm>
          <a:prstGeom prst="rect">
            <a:avLst/>
          </a:prstGeom>
          <a:noFill/>
          <a:ln/>
        </p:spPr>
        <p:txBody>
          <a:bodyPr wrap="square" lIns="0" tIns="0" rIns="0" bIns="0" rtlCol="0" anchor="ctr"/>
          <a:lstStyle/>
          <a:p>
            <a:pPr indent="0" marL="0">
              <a:buNone/>
            </a:pPr>
            <a:r>
              <a:rPr lang="en-US" sz="4600" b="1" dirty="0">
                <a:solidFill>
                  <a:srgbClr val="8B8A82"/>
                </a:solidFill>
                <a:latin typeface="Courier New" pitchFamily="34" charset="0"/>
                <a:ea typeface="Courier New" pitchFamily="34" charset="-122"/>
                <a:cs typeface="Courier New" pitchFamily="34" charset="-120"/>
              </a:rPr>
              <a:t>₹0</a:t>
            </a:r>
            <a:endParaRPr lang="en-US" sz="4600" dirty="0"/>
          </a:p>
        </p:txBody>
      </p:sp>
      <p:sp>
        <p:nvSpPr>
          <p:cNvPr id="13" name="Text 11"/>
          <p:cNvSpPr/>
          <p:nvPr/>
        </p:nvSpPr>
        <p:spPr>
          <a:xfrm>
            <a:off x="8375904" y="4023360"/>
            <a:ext cx="2971800" cy="1417320"/>
          </a:xfrm>
          <a:prstGeom prst="rect">
            <a:avLst/>
          </a:prstGeom>
          <a:noFill/>
          <a:ln/>
        </p:spPr>
        <p:txBody>
          <a:bodyPr wrap="square" lIns="0" tIns="0" rIns="0" bIns="0" rtlCol="0" anchor="ctr"/>
          <a:lstStyle/>
          <a:p>
            <a:pPr indent="0" marL="0">
              <a:lnSpc>
                <a:spcPts val="1800"/>
              </a:lnSpc>
              <a:buNone/>
            </a:pPr>
            <a:r>
              <a:rPr lang="en-US" sz="1300" dirty="0">
                <a:solidFill>
                  <a:srgbClr val="C8C5BD"/>
                </a:solidFill>
                <a:latin typeface="Arial" pitchFamily="34" charset="0"/>
                <a:ea typeface="Arial" pitchFamily="34" charset="-122"/>
                <a:cs typeface="Arial" pitchFamily="34" charset="-120"/>
              </a:rPr>
              <a:t>reaches the person in the moment a witness cares, today</a:t>
            </a:r>
            <a:endParaRPr lang="en-US" sz="1300" dirty="0"/>
          </a:p>
        </p:txBody>
      </p:sp>
      <p:sp>
        <p:nvSpPr>
          <p:cNvPr id="14" name="Shape 12"/>
          <p:cNvSpPr/>
          <p:nvPr/>
        </p:nvSpPr>
        <p:spPr>
          <a:xfrm>
            <a:off x="502920" y="6117336"/>
            <a:ext cx="8686800" cy="0"/>
          </a:xfrm>
          <a:prstGeom prst="line">
            <a:avLst/>
          </a:prstGeom>
          <a:noFill/>
          <a:ln w="9525">
            <a:solidFill>
              <a:srgbClr val="2A2E38"/>
            </a:solidFill>
            <a:prstDash val="solid"/>
          </a:ln>
        </p:spPr>
      </p:sp>
      <p:sp>
        <p:nvSpPr>
          <p:cNvPr id="15" name="Text 13"/>
          <p:cNvSpPr/>
          <p:nvPr/>
        </p:nvSpPr>
        <p:spPr>
          <a:xfrm>
            <a:off x="502920" y="6263640"/>
            <a:ext cx="868680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The gap isn't compassion. It's a channel that answers.</a:t>
            </a:r>
            <a:endParaRPr lang="en-US" sz="1450" dirty="0"/>
          </a:p>
        </p:txBody>
      </p:sp>
      <p:sp>
        <p:nvSpPr>
          <p:cNvPr id="16" name="Text 14"/>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3/13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02 — WHY NOW</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Why now, why me</a:t>
            </a:r>
            <a:endParaRPr lang="en-US" sz="3200" dirty="0"/>
          </a:p>
        </p:txBody>
      </p:sp>
      <p:sp>
        <p:nvSpPr>
          <p:cNvPr id="4" name="Text 2"/>
          <p:cNvSpPr/>
          <p:nvPr/>
        </p:nvSpPr>
        <p:spPr>
          <a:xfrm>
            <a:off x="502920" y="1901952"/>
            <a:ext cx="1554480" cy="274320"/>
          </a:xfrm>
          <a:prstGeom prst="rect">
            <a:avLst/>
          </a:prstGeom>
          <a:noFill/>
          <a:ln/>
        </p:spPr>
        <p:txBody>
          <a:bodyPr wrap="square" lIns="0" tIns="0" rIns="0" bIns="0" rtlCol="0" anchor="ctr"/>
          <a:lstStyle/>
          <a:p>
            <a:pPr indent="0" marL="0">
              <a:buNone/>
            </a:pPr>
            <a:r>
              <a:rPr lang="en-US" sz="1000" spc="150" kern="0" dirty="0">
                <a:solidFill>
                  <a:srgbClr val="F2A93B"/>
                </a:solidFill>
                <a:latin typeface="Courier New" pitchFamily="34" charset="0"/>
                <a:ea typeface="Courier New" pitchFamily="34" charset="-122"/>
                <a:cs typeface="Courier New" pitchFamily="34" charset="-120"/>
              </a:rPr>
              <a:t>DISTRIBUTION</a:t>
            </a:r>
            <a:endParaRPr lang="en-US" sz="1000" dirty="0"/>
          </a:p>
        </p:txBody>
      </p:sp>
      <p:sp>
        <p:nvSpPr>
          <p:cNvPr id="5" name="Text 3"/>
          <p:cNvSpPr/>
          <p:nvPr/>
        </p:nvSpPr>
        <p:spPr>
          <a:xfrm>
            <a:off x="2194560" y="1874520"/>
            <a:ext cx="4297680" cy="329184"/>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Everyone already has the app</a:t>
            </a:r>
            <a:endParaRPr lang="en-US" sz="1450" dirty="0"/>
          </a:p>
        </p:txBody>
      </p:sp>
      <p:sp>
        <p:nvSpPr>
          <p:cNvPr id="6" name="Text 4"/>
          <p:cNvSpPr/>
          <p:nvPr/>
        </p:nvSpPr>
        <p:spPr>
          <a:xfrm>
            <a:off x="2194560" y="2203704"/>
            <a:ext cx="4343400" cy="713232"/>
          </a:xfrm>
          <a:prstGeom prst="rect">
            <a:avLst/>
          </a:prstGeom>
          <a:noFill/>
          <a:ln/>
        </p:spPr>
        <p:txBody>
          <a:bodyPr wrap="square" lIns="0" tIns="0" rIns="0" bIns="0" rtlCol="0" anchor="ctr"/>
          <a:lstStyle/>
          <a:p>
            <a:pPr indent="0" marL="0">
              <a:lnSpc>
                <a:spcPts val="1550"/>
              </a:lnSpc>
              <a:buNone/>
            </a:pPr>
            <a:r>
              <a:rPr lang="en-US" sz="1150" dirty="0">
                <a:solidFill>
                  <a:srgbClr val="C8C5BD"/>
                </a:solidFill>
                <a:latin typeface="Arial" pitchFamily="34" charset="0"/>
                <a:ea typeface="Arial" pitchFamily="34" charset="-122"/>
                <a:cs typeface="Arial" pitchFamily="34" charset="-120"/>
              </a:rPr>
              <a:t>500 million-plus Indians open WhatsApp every day. Reporting can cost exactly one message — the channel they already use is the channel that answers.</a:t>
            </a:r>
            <a:endParaRPr lang="en-US" sz="1150" dirty="0"/>
          </a:p>
        </p:txBody>
      </p:sp>
      <p:sp>
        <p:nvSpPr>
          <p:cNvPr id="7" name="Text 5"/>
          <p:cNvSpPr/>
          <p:nvPr/>
        </p:nvSpPr>
        <p:spPr>
          <a:xfrm>
            <a:off x="502920" y="2980944"/>
            <a:ext cx="1554480" cy="274320"/>
          </a:xfrm>
          <a:prstGeom prst="rect">
            <a:avLst/>
          </a:prstGeom>
          <a:noFill/>
          <a:ln/>
        </p:spPr>
        <p:txBody>
          <a:bodyPr wrap="square" lIns="0" tIns="0" rIns="0" bIns="0" rtlCol="0" anchor="ctr"/>
          <a:lstStyle/>
          <a:p>
            <a:pPr indent="0" marL="0">
              <a:buNone/>
            </a:pPr>
            <a:r>
              <a:rPr lang="en-US" sz="1000" spc="150" kern="0" dirty="0">
                <a:solidFill>
                  <a:srgbClr val="F2A93B"/>
                </a:solidFill>
                <a:latin typeface="Courier New" pitchFamily="34" charset="0"/>
                <a:ea typeface="Courier New" pitchFamily="34" charset="-122"/>
                <a:cs typeface="Courier New" pitchFamily="34" charset="-120"/>
              </a:rPr>
              <a:t>TECHNOLOGY</a:t>
            </a:r>
            <a:endParaRPr lang="en-US" sz="1000" dirty="0"/>
          </a:p>
        </p:txBody>
      </p:sp>
      <p:sp>
        <p:nvSpPr>
          <p:cNvPr id="8" name="Text 6"/>
          <p:cNvSpPr/>
          <p:nvPr/>
        </p:nvSpPr>
        <p:spPr>
          <a:xfrm>
            <a:off x="2194560" y="2953512"/>
            <a:ext cx="4297680" cy="329184"/>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AI can finally take the report</a:t>
            </a:r>
            <a:endParaRPr lang="en-US" sz="1450" dirty="0"/>
          </a:p>
        </p:txBody>
      </p:sp>
      <p:sp>
        <p:nvSpPr>
          <p:cNvPr id="9" name="Text 7"/>
          <p:cNvSpPr/>
          <p:nvPr/>
        </p:nvSpPr>
        <p:spPr>
          <a:xfrm>
            <a:off x="2194560" y="3282696"/>
            <a:ext cx="4343400" cy="713232"/>
          </a:xfrm>
          <a:prstGeom prst="rect">
            <a:avLst/>
          </a:prstGeom>
          <a:noFill/>
          <a:ln/>
        </p:spPr>
        <p:txBody>
          <a:bodyPr wrap="square" lIns="0" tIns="0" rIns="0" bIns="0" rtlCol="0" anchor="ctr"/>
          <a:lstStyle/>
          <a:p>
            <a:pPr indent="0" marL="0">
              <a:lnSpc>
                <a:spcPts val="1550"/>
              </a:lnSpc>
              <a:buNone/>
            </a:pPr>
            <a:r>
              <a:rPr lang="en-US" sz="1150" dirty="0">
                <a:solidFill>
                  <a:srgbClr val="C8C5BD"/>
                </a:solidFill>
                <a:latin typeface="Arial" pitchFamily="34" charset="0"/>
                <a:ea typeface="Arial" pitchFamily="34" charset="-122"/>
                <a:cs typeface="Arial" pitchFamily="34" charset="-120"/>
              </a:rPr>
              <a:t>LLMs now reliably turn a panicked, code-switched voice note — Hindi, English, Hinglish — into a structured report. Two years ago this took a call centre; today it's a pipeline, for pennies a message.</a:t>
            </a:r>
            <a:endParaRPr lang="en-US" sz="1150" dirty="0"/>
          </a:p>
        </p:txBody>
      </p:sp>
      <p:sp>
        <p:nvSpPr>
          <p:cNvPr id="10" name="Text 8"/>
          <p:cNvSpPr/>
          <p:nvPr/>
        </p:nvSpPr>
        <p:spPr>
          <a:xfrm>
            <a:off x="502920" y="4059936"/>
            <a:ext cx="1554480" cy="274320"/>
          </a:xfrm>
          <a:prstGeom prst="rect">
            <a:avLst/>
          </a:prstGeom>
          <a:noFill/>
          <a:ln/>
        </p:spPr>
        <p:txBody>
          <a:bodyPr wrap="square" lIns="0" tIns="0" rIns="0" bIns="0" rtlCol="0" anchor="ctr"/>
          <a:lstStyle/>
          <a:p>
            <a:pPr indent="0" marL="0">
              <a:buNone/>
            </a:pPr>
            <a:r>
              <a:rPr lang="en-US" sz="1000" spc="150" kern="0" dirty="0">
                <a:solidFill>
                  <a:srgbClr val="F2A93B"/>
                </a:solidFill>
                <a:latin typeface="Courier New" pitchFamily="34" charset="0"/>
                <a:ea typeface="Courier New" pitchFamily="34" charset="-122"/>
                <a:cs typeface="Courier New" pitchFamily="34" charset="-120"/>
              </a:rPr>
              <a:t>OPERATIONS</a:t>
            </a:r>
            <a:endParaRPr lang="en-US" sz="1000" dirty="0"/>
          </a:p>
        </p:txBody>
      </p:sp>
      <p:sp>
        <p:nvSpPr>
          <p:cNvPr id="11" name="Text 9"/>
          <p:cNvSpPr/>
          <p:nvPr/>
        </p:nvSpPr>
        <p:spPr>
          <a:xfrm>
            <a:off x="2194560" y="4032504"/>
            <a:ext cx="4297680" cy="329184"/>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Dispatch patterns are proven</a:t>
            </a:r>
            <a:endParaRPr lang="en-US" sz="1450" dirty="0"/>
          </a:p>
        </p:txBody>
      </p:sp>
      <p:sp>
        <p:nvSpPr>
          <p:cNvPr id="12" name="Text 10"/>
          <p:cNvSpPr/>
          <p:nvPr/>
        </p:nvSpPr>
        <p:spPr>
          <a:xfrm>
            <a:off x="2194560" y="4361688"/>
            <a:ext cx="4343400" cy="713232"/>
          </a:xfrm>
          <a:prstGeom prst="rect">
            <a:avLst/>
          </a:prstGeom>
          <a:noFill/>
          <a:ln/>
        </p:spPr>
        <p:txBody>
          <a:bodyPr wrap="square" lIns="0" tIns="0" rIns="0" bIns="0" rtlCol="0" anchor="ctr"/>
          <a:lstStyle/>
          <a:p>
            <a:pPr indent="0" marL="0">
              <a:lnSpc>
                <a:spcPts val="1550"/>
              </a:lnSpc>
              <a:buNone/>
            </a:pPr>
            <a:r>
              <a:rPr lang="en-US" sz="1150" dirty="0">
                <a:solidFill>
                  <a:srgbClr val="C8C5BD"/>
                </a:solidFill>
                <a:latin typeface="Arial" pitchFamily="34" charset="0"/>
                <a:ea typeface="Arial" pitchFamily="34" charset="-122"/>
                <a:cs typeface="Arial" pitchFamily="34" charset="-120"/>
              </a:rPr>
              <a:t>GoodSAM showed that offering a case to several nearby responders at once, first-to-accept, gets a yes inside a minute. India Post's DIGIPIN now gives every stretch of pavement its own short address.</a:t>
            </a:r>
            <a:endParaRPr lang="en-US" sz="1150" dirty="0"/>
          </a:p>
        </p:txBody>
      </p:sp>
      <p:sp>
        <p:nvSpPr>
          <p:cNvPr id="13" name="Text 11"/>
          <p:cNvSpPr/>
          <p:nvPr/>
        </p:nvSpPr>
        <p:spPr>
          <a:xfrm>
            <a:off x="502920" y="5138928"/>
            <a:ext cx="1554480" cy="274320"/>
          </a:xfrm>
          <a:prstGeom prst="rect">
            <a:avLst/>
          </a:prstGeom>
          <a:noFill/>
          <a:ln/>
        </p:spPr>
        <p:txBody>
          <a:bodyPr wrap="square" lIns="0" tIns="0" rIns="0" bIns="0" rtlCol="0" anchor="ctr"/>
          <a:lstStyle/>
          <a:p>
            <a:pPr indent="0" marL="0">
              <a:buNone/>
            </a:pPr>
            <a:r>
              <a:rPr lang="en-US" sz="1000" spc="150" kern="0" dirty="0">
                <a:solidFill>
                  <a:srgbClr val="F2A93B"/>
                </a:solidFill>
                <a:latin typeface="Courier New" pitchFamily="34" charset="0"/>
                <a:ea typeface="Courier New" pitchFamily="34" charset="-122"/>
                <a:cs typeface="Courier New" pitchFamily="34" charset="-120"/>
              </a:rPr>
              <a:t>REGULATION</a:t>
            </a:r>
            <a:endParaRPr lang="en-US" sz="1000" dirty="0"/>
          </a:p>
        </p:txBody>
      </p:sp>
      <p:sp>
        <p:nvSpPr>
          <p:cNvPr id="14" name="Text 12"/>
          <p:cNvSpPr/>
          <p:nvPr/>
        </p:nvSpPr>
        <p:spPr>
          <a:xfrm>
            <a:off x="2194560" y="5111496"/>
            <a:ext cx="4297680" cy="329184"/>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Privacy is now the moat</a:t>
            </a:r>
            <a:endParaRPr lang="en-US" sz="1450" dirty="0"/>
          </a:p>
        </p:txBody>
      </p:sp>
      <p:sp>
        <p:nvSpPr>
          <p:cNvPr id="15" name="Text 13"/>
          <p:cNvSpPr/>
          <p:nvPr/>
        </p:nvSpPr>
        <p:spPr>
          <a:xfrm>
            <a:off x="2194560" y="5440680"/>
            <a:ext cx="4343400" cy="713232"/>
          </a:xfrm>
          <a:prstGeom prst="rect">
            <a:avLst/>
          </a:prstGeom>
          <a:noFill/>
          <a:ln/>
        </p:spPr>
        <p:txBody>
          <a:bodyPr wrap="square" lIns="0" tIns="0" rIns="0" bIns="0" rtlCol="0" anchor="ctr"/>
          <a:lstStyle/>
          <a:p>
            <a:pPr indent="0" marL="0">
              <a:lnSpc>
                <a:spcPts val="1550"/>
              </a:lnSpc>
              <a:buNone/>
            </a:pPr>
            <a:r>
              <a:rPr lang="en-US" sz="1150" dirty="0">
                <a:solidFill>
                  <a:srgbClr val="C8C5BD"/>
                </a:solidFill>
                <a:latin typeface="Arial" pitchFamily="34" charset="0"/>
                <a:ea typeface="Arial" pitchFamily="34" charset="-122"/>
                <a:cs typeface="Arial" pitchFamily="34" charset="-120"/>
              </a:rPr>
              <a:t>India's DPDP Act makes hoarding personal data a liability, not an asset. A system built to never collect a name, a face, or an address is the version regulators and NGOs trust first.</a:t>
            </a:r>
            <a:endParaRPr lang="en-US" sz="1150" dirty="0"/>
          </a:p>
        </p:txBody>
      </p:sp>
      <p:sp>
        <p:nvSpPr>
          <p:cNvPr id="16" name="Shape 14"/>
          <p:cNvSpPr/>
          <p:nvPr/>
        </p:nvSpPr>
        <p:spPr>
          <a:xfrm>
            <a:off x="6537960" y="1828800"/>
            <a:ext cx="5148072" cy="4160520"/>
          </a:xfrm>
          <a:prstGeom prst="roundRect">
            <a:avLst>
              <a:gd name="adj" fmla="val 2637"/>
            </a:avLst>
          </a:prstGeom>
          <a:solidFill>
            <a:srgbClr val="14161C"/>
          </a:solidFill>
          <a:ln w="12700">
            <a:solidFill>
              <a:srgbClr val="2A2E38"/>
            </a:solidFill>
            <a:prstDash val="solid"/>
          </a:ln>
        </p:spPr>
      </p:sp>
      <p:sp>
        <p:nvSpPr>
          <p:cNvPr id="17" name="Text 15"/>
          <p:cNvSpPr/>
          <p:nvPr/>
        </p:nvSpPr>
        <p:spPr>
          <a:xfrm>
            <a:off x="6858000" y="2103120"/>
            <a:ext cx="4572000" cy="274320"/>
          </a:xfrm>
          <a:prstGeom prst="rect">
            <a:avLst/>
          </a:prstGeom>
          <a:noFill/>
          <a:ln/>
        </p:spPr>
        <p:txBody>
          <a:bodyPr wrap="square" lIns="0" tIns="0" rIns="0" bIns="0" rtlCol="0" anchor="ctr"/>
          <a:lstStyle/>
          <a:p>
            <a:pPr indent="0" marL="0">
              <a:buNone/>
            </a:pPr>
            <a:r>
              <a:rPr lang="en-US" sz="1050" spc="200" kern="0" dirty="0">
                <a:solidFill>
                  <a:srgbClr val="F2A93B"/>
                </a:solidFill>
                <a:latin typeface="Courier New" pitchFamily="34" charset="0"/>
                <a:ea typeface="Courier New" pitchFamily="34" charset="-122"/>
                <a:cs typeface="Courier New" pitchFamily="34" charset="-120"/>
              </a:rPr>
              <a:t>THE EDGE</a:t>
            </a:r>
            <a:endParaRPr lang="en-US" sz="1050" dirty="0"/>
          </a:p>
        </p:txBody>
      </p:sp>
      <p:sp>
        <p:nvSpPr>
          <p:cNvPr id="18" name="Text 16"/>
          <p:cNvSpPr/>
          <p:nvPr/>
        </p:nvSpPr>
        <p:spPr>
          <a:xfrm>
            <a:off x="6858000" y="2487168"/>
            <a:ext cx="4526280" cy="1417320"/>
          </a:xfrm>
          <a:prstGeom prst="rect">
            <a:avLst/>
          </a:prstGeom>
          <a:noFill/>
          <a:ln/>
        </p:spPr>
        <p:txBody>
          <a:bodyPr wrap="square" lIns="0" tIns="0" rIns="0" bIns="0" rtlCol="0" anchor="ctr"/>
          <a:lstStyle/>
          <a:p>
            <a:pPr indent="0" marL="0">
              <a:lnSpc>
                <a:spcPts val="2700"/>
              </a:lnSpc>
              <a:buNone/>
            </a:pPr>
            <a:r>
              <a:rPr lang="en-US" sz="2100" i="1" dirty="0">
                <a:solidFill>
                  <a:srgbClr val="ECE9E2"/>
                </a:solidFill>
                <a:latin typeface="Georgia" pitchFamily="34" charset="0"/>
                <a:ea typeface="Georgia" pitchFamily="34" charset="-122"/>
                <a:cs typeface="Georgia" pitchFamily="34" charset="-120"/>
              </a:rPr>
              <a:t>“The sensor isn't a camera.</a:t>
            </a:r>
            <a:endParaRPr lang="en-US" sz="2100" dirty="0"/>
          </a:p>
          <a:p>
            <a:pPr indent="0" marL="0">
              <a:lnSpc>
                <a:spcPts val="2700"/>
              </a:lnSpc>
              <a:buNone/>
            </a:pPr>
            <a:r>
              <a:rPr lang="en-US" sz="2100" i="1" dirty="0">
                <a:solidFill>
                  <a:srgbClr val="ECE9E2"/>
                </a:solidFill>
                <a:latin typeface="Georgia" pitchFamily="34" charset="0"/>
                <a:ea typeface="Georgia" pitchFamily="34" charset="-122"/>
                <a:cs typeface="Georgia" pitchFamily="34" charset="-120"/>
              </a:rPr>
              <a:t>It's a person who already stopped.”</a:t>
            </a:r>
            <a:endParaRPr lang="en-US" sz="2100" dirty="0"/>
          </a:p>
        </p:txBody>
      </p:sp>
      <p:sp>
        <p:nvSpPr>
          <p:cNvPr id="19" name="Text 17"/>
          <p:cNvSpPr/>
          <p:nvPr/>
        </p:nvSpPr>
        <p:spPr>
          <a:xfrm>
            <a:off x="6858000" y="4114800"/>
            <a:ext cx="4526280" cy="1737360"/>
          </a:xfrm>
          <a:prstGeom prst="rect">
            <a:avLst/>
          </a:prstGeom>
          <a:noFill/>
          <a:ln/>
        </p:spPr>
        <p:txBody>
          <a:bodyPr wrap="square" lIns="0" tIns="0" rIns="0" bIns="0" rtlCol="0" anchor="ctr"/>
          <a:lstStyle/>
          <a:p>
            <a:pPr indent="0" marL="0">
              <a:lnSpc>
                <a:spcPts val="1750"/>
              </a:lnSpc>
              <a:buNone/>
            </a:pPr>
            <a:r>
              <a:rPr lang="en-US" sz="1250" dirty="0">
                <a:solidFill>
                  <a:srgbClr val="C8C5BD"/>
                </a:solidFill>
                <a:latin typeface="Arial" pitchFamily="34" charset="0"/>
                <a:ea typeface="Arial" pitchFamily="34" charset="-122"/>
                <a:cs typeface="Arial" pitchFamily="34" charset="-120"/>
              </a:rPr>
              <a:t>Equitech alum. Built the whole system solo — intake pipeline, control room, responder app, 111 automated tests — before asking anyone for a rupee. Every design choice in it cites a real system that came before and failed, for a specific, documented reason.</a:t>
            </a:r>
            <a:endParaRPr lang="en-US" sz="1250" dirty="0"/>
          </a:p>
        </p:txBody>
      </p:sp>
      <p:sp>
        <p:nvSpPr>
          <p:cNvPr id="20" name="Shape 18"/>
          <p:cNvSpPr/>
          <p:nvPr/>
        </p:nvSpPr>
        <p:spPr>
          <a:xfrm>
            <a:off x="502920" y="6117336"/>
            <a:ext cx="8686800" cy="0"/>
          </a:xfrm>
          <a:prstGeom prst="line">
            <a:avLst/>
          </a:prstGeom>
          <a:noFill/>
          <a:ln w="9525">
            <a:solidFill>
              <a:srgbClr val="2A2E38"/>
            </a:solidFill>
            <a:prstDash val="solid"/>
          </a:ln>
        </p:spPr>
      </p:sp>
      <p:sp>
        <p:nvSpPr>
          <p:cNvPr id="21" name="Text 19"/>
          <p:cNvSpPr/>
          <p:nvPr/>
        </p:nvSpPr>
        <p:spPr>
          <a:xfrm>
            <a:off x="502920" y="6263640"/>
            <a:ext cx="868680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Nothing here requires new behaviour — only a number worth saving.</a:t>
            </a:r>
            <a:endParaRPr lang="en-US" sz="1450" dirty="0"/>
          </a:p>
        </p:txBody>
      </p:sp>
      <p:sp>
        <p:nvSpPr>
          <p:cNvPr id="22" name="Text 20"/>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4/13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03 — HOW IT WORKS</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One message, answered — start to finish</a:t>
            </a:r>
            <a:endParaRPr lang="en-US" sz="3200" dirty="0"/>
          </a:p>
        </p:txBody>
      </p:sp>
      <p:sp>
        <p:nvSpPr>
          <p:cNvPr id="4" name="Text 2"/>
          <p:cNvSpPr/>
          <p:nvPr/>
        </p:nvSpPr>
        <p:spPr>
          <a:xfrm>
            <a:off x="502920" y="1783080"/>
            <a:ext cx="6949440" cy="822960"/>
          </a:xfrm>
          <a:prstGeom prst="rect">
            <a:avLst/>
          </a:prstGeom>
          <a:noFill/>
          <a:ln/>
        </p:spPr>
        <p:txBody>
          <a:bodyPr wrap="square" lIns="0" tIns="0" rIns="0" bIns="0" rtlCol="0" anchor="ctr"/>
          <a:lstStyle/>
          <a:p>
            <a:pPr indent="0" marL="0">
              <a:lnSpc>
                <a:spcPts val="2000"/>
              </a:lnSpc>
              <a:buNone/>
            </a:pPr>
            <a:r>
              <a:rPr lang="en-US" sz="1400" dirty="0">
                <a:solidFill>
                  <a:srgbClr val="C8C5BD"/>
                </a:solidFill>
                <a:latin typeface="Arial" pitchFamily="34" charset="0"/>
                <a:ea typeface="Arial" pitchFamily="34" charset="-122"/>
                <a:cs typeface="Arial" pitchFamily="34" charset="-120"/>
              </a:rPr>
              <a:t>Six steps. Most take under a minute. None of them ask the witness to do anything but send what they'd already send a friend.</a:t>
            </a:r>
            <a:endParaRPr lang="en-US" sz="1400" dirty="0"/>
          </a:p>
        </p:txBody>
      </p:sp>
      <p:sp>
        <p:nvSpPr>
          <p:cNvPr id="5" name="Shape 3"/>
          <p:cNvSpPr/>
          <p:nvPr/>
        </p:nvSpPr>
        <p:spPr>
          <a:xfrm>
            <a:off x="502920" y="2697480"/>
            <a:ext cx="384048" cy="384048"/>
          </a:xfrm>
          <a:prstGeom prst="ellipse">
            <a:avLst/>
          </a:prstGeom>
          <a:solidFill>
            <a:srgbClr val="F2A93B"/>
          </a:solidFill>
          <a:ln/>
        </p:spPr>
      </p:sp>
      <p:sp>
        <p:nvSpPr>
          <p:cNvPr id="6" name="Text 4"/>
          <p:cNvSpPr/>
          <p:nvPr/>
        </p:nvSpPr>
        <p:spPr>
          <a:xfrm>
            <a:off x="502920" y="269748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1</a:t>
            </a:r>
            <a:endParaRPr lang="en-US" sz="1500" dirty="0"/>
          </a:p>
        </p:txBody>
      </p:sp>
      <p:sp>
        <p:nvSpPr>
          <p:cNvPr id="7" name="Text 5"/>
          <p:cNvSpPr/>
          <p:nvPr/>
        </p:nvSpPr>
        <p:spPr>
          <a:xfrm>
            <a:off x="1069848" y="265176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Witness sends one WhatsApp</a:t>
            </a:r>
            <a:endParaRPr lang="en-US" sz="1450" dirty="0"/>
          </a:p>
        </p:txBody>
      </p:sp>
      <p:sp>
        <p:nvSpPr>
          <p:cNvPr id="8" name="Text 6"/>
          <p:cNvSpPr/>
          <p:nvPr/>
        </p:nvSpPr>
        <p:spPr>
          <a:xfrm>
            <a:off x="1069848" y="297180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Text, a voice note, or a photo — in English, Hinglish, or हिंदी, whatever's natural in the moment.</a:t>
            </a:r>
            <a:endParaRPr lang="en-US" sz="1200" dirty="0"/>
          </a:p>
        </p:txBody>
      </p:sp>
      <p:sp>
        <p:nvSpPr>
          <p:cNvPr id="9" name="Shape 7"/>
          <p:cNvSpPr/>
          <p:nvPr/>
        </p:nvSpPr>
        <p:spPr>
          <a:xfrm>
            <a:off x="502920" y="3977640"/>
            <a:ext cx="384048" cy="384048"/>
          </a:xfrm>
          <a:prstGeom prst="ellipse">
            <a:avLst/>
          </a:prstGeom>
          <a:solidFill>
            <a:srgbClr val="F2A93B"/>
          </a:solidFill>
          <a:ln/>
        </p:spPr>
      </p:sp>
      <p:sp>
        <p:nvSpPr>
          <p:cNvPr id="10" name="Text 8"/>
          <p:cNvSpPr/>
          <p:nvPr/>
        </p:nvSpPr>
        <p:spPr>
          <a:xfrm>
            <a:off x="502920" y="397764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2</a:t>
            </a:r>
            <a:endParaRPr lang="en-US" sz="1500" dirty="0"/>
          </a:p>
        </p:txBody>
      </p:sp>
      <p:sp>
        <p:nvSpPr>
          <p:cNvPr id="11" name="Text 9"/>
          <p:cNvSpPr/>
          <p:nvPr/>
        </p:nvSpPr>
        <p:spPr>
          <a:xfrm>
            <a:off x="1069848" y="393192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Deterministic 112 gate</a:t>
            </a:r>
            <a:endParaRPr lang="en-US" sz="1450" dirty="0"/>
          </a:p>
        </p:txBody>
      </p:sp>
      <p:sp>
        <p:nvSpPr>
          <p:cNvPr id="12" name="Text 10"/>
          <p:cNvSpPr/>
          <p:nvPr/>
        </p:nvSpPr>
        <p:spPr>
          <a:xfrm>
            <a:off x="1069848" y="425196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Before any model reads the message, a fixed, code-level check looks for real emergencies and redirects them immediately — no AI in the loop for the moment that matters most.</a:t>
            </a:r>
            <a:endParaRPr lang="en-US" sz="1200" dirty="0"/>
          </a:p>
        </p:txBody>
      </p:sp>
      <p:sp>
        <p:nvSpPr>
          <p:cNvPr id="13" name="Shape 11"/>
          <p:cNvSpPr/>
          <p:nvPr/>
        </p:nvSpPr>
        <p:spPr>
          <a:xfrm>
            <a:off x="502920" y="5257800"/>
            <a:ext cx="384048" cy="384048"/>
          </a:xfrm>
          <a:prstGeom prst="ellipse">
            <a:avLst/>
          </a:prstGeom>
          <a:solidFill>
            <a:srgbClr val="F2A93B"/>
          </a:solidFill>
          <a:ln/>
        </p:spPr>
      </p:sp>
      <p:sp>
        <p:nvSpPr>
          <p:cNvPr id="14" name="Text 12"/>
          <p:cNvSpPr/>
          <p:nvPr/>
        </p:nvSpPr>
        <p:spPr>
          <a:xfrm>
            <a:off x="502920" y="525780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3</a:t>
            </a:r>
            <a:endParaRPr lang="en-US" sz="1500" dirty="0"/>
          </a:p>
        </p:txBody>
      </p:sp>
      <p:sp>
        <p:nvSpPr>
          <p:cNvPr id="15" name="Text 13"/>
          <p:cNvSpPr/>
          <p:nvPr/>
        </p:nvSpPr>
        <p:spPr>
          <a:xfrm>
            <a:off x="1069848" y="521208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AI agent structures the report</a:t>
            </a:r>
            <a:endParaRPr lang="en-US" sz="1450" dirty="0"/>
          </a:p>
        </p:txBody>
      </p:sp>
      <p:sp>
        <p:nvSpPr>
          <p:cNvPr id="16" name="Text 14"/>
          <p:cNvSpPr/>
          <p:nvPr/>
        </p:nvSpPr>
        <p:spPr>
          <a:xfrm>
            <a:off x="1069848" y="553212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The message becomes a location (down to a DIGIPIN), a need, and an urgency level — a kit order is raised automatically: medical, food, or shelter.</a:t>
            </a:r>
            <a:endParaRPr lang="en-US" sz="1200" dirty="0"/>
          </a:p>
        </p:txBody>
      </p:sp>
      <p:pic>
        <p:nvPicPr>
          <p:cNvPr id="17" name="Image 0" descr="/home/user/register/research/pitch/assets/phone.png">    </p:cNvPr>
          <p:cNvPicPr>
            <a:picLocks noChangeAspect="1"/>
          </p:cNvPicPr>
          <p:nvPr/>
        </p:nvPicPr>
        <p:blipFill>
          <a:blip r:embed="rId1"/>
          <a:stretch>
            <a:fillRect/>
          </a:stretch>
        </p:blipFill>
        <p:spPr>
          <a:xfrm>
            <a:off x="7818120" y="1783080"/>
            <a:ext cx="3383280" cy="3364992"/>
          </a:xfrm>
          <a:prstGeom prst="ellipse">
            <a:avLst/>
          </a:prstGeom>
        </p:spPr>
      </p:pic>
      <p:sp>
        <p:nvSpPr>
          <p:cNvPr id="18" name="Text 15"/>
          <p:cNvSpPr/>
          <p:nvPr/>
        </p:nvSpPr>
        <p:spPr>
          <a:xfrm>
            <a:off x="7818120" y="5230368"/>
            <a:ext cx="3429000" cy="777240"/>
          </a:xfrm>
          <a:prstGeom prst="rect">
            <a:avLst/>
          </a:prstGeom>
          <a:noFill/>
          <a:ln/>
        </p:spPr>
        <p:txBody>
          <a:bodyPr wrap="square" lIns="0" tIns="0" rIns="0" bIns="0" rtlCol="0" anchor="ctr"/>
          <a:lstStyle/>
          <a:p>
            <a:pPr indent="0" marL="0">
              <a:lnSpc>
                <a:spcPts val="1250"/>
              </a:lnSpc>
              <a:buNone/>
            </a:pPr>
            <a:r>
              <a:rPr lang="en-US" sz="900" dirty="0">
                <a:solidFill>
                  <a:srgbClr val="8B8A82"/>
                </a:solidFill>
                <a:latin typeface="Courier New" pitchFamily="34" charset="0"/>
                <a:ea typeface="Courier New" pitchFamily="34" charset="-122"/>
                <a:cs typeface="Courier New" pitchFamily="34" charset="-120"/>
              </a:rPr>
              <a:t>the witness's phone — no app to install (shown under the project's original working name; a rename pass to Wayside is under way)</a:t>
            </a:r>
            <a:endParaRPr lang="en-US" sz="900" dirty="0"/>
          </a:p>
        </p:txBody>
      </p:sp>
      <p:sp>
        <p:nvSpPr>
          <p:cNvPr id="19" name="Text 16"/>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5/13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03 — HOW IT WORKS</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…and it closes the loop</a:t>
            </a:r>
            <a:endParaRPr lang="en-US" sz="3200" dirty="0"/>
          </a:p>
        </p:txBody>
      </p:sp>
      <p:sp>
        <p:nvSpPr>
          <p:cNvPr id="4" name="Shape 2"/>
          <p:cNvSpPr/>
          <p:nvPr/>
        </p:nvSpPr>
        <p:spPr>
          <a:xfrm>
            <a:off x="502920" y="1965960"/>
            <a:ext cx="384048" cy="384048"/>
          </a:xfrm>
          <a:prstGeom prst="ellipse">
            <a:avLst/>
          </a:prstGeom>
          <a:solidFill>
            <a:srgbClr val="F2A93B"/>
          </a:solidFill>
          <a:ln/>
        </p:spPr>
      </p:sp>
      <p:sp>
        <p:nvSpPr>
          <p:cNvPr id="5" name="Text 3"/>
          <p:cNvSpPr/>
          <p:nvPr/>
        </p:nvSpPr>
        <p:spPr>
          <a:xfrm>
            <a:off x="502920" y="196596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4</a:t>
            </a:r>
            <a:endParaRPr lang="en-US" sz="1500" dirty="0"/>
          </a:p>
        </p:txBody>
      </p:sp>
      <p:sp>
        <p:nvSpPr>
          <p:cNvPr id="6" name="Text 4"/>
          <p:cNvSpPr/>
          <p:nvPr/>
        </p:nvSpPr>
        <p:spPr>
          <a:xfrm>
            <a:off x="1069848" y="192024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Parallel offers, first accept wins</a:t>
            </a:r>
            <a:endParaRPr lang="en-US" sz="1450" dirty="0"/>
          </a:p>
        </p:txBody>
      </p:sp>
      <p:sp>
        <p:nvSpPr>
          <p:cNvPr id="7" name="Text 5"/>
          <p:cNvSpPr/>
          <p:nvPr/>
        </p:nvSpPr>
        <p:spPr>
          <a:xfrm>
            <a:off x="1069848" y="224028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The order goes out to the nearest trusted responders at once, like a ride-hailing request. Whoever accepts first gets the case; the rest stand down.</a:t>
            </a:r>
            <a:endParaRPr lang="en-US" sz="1200" dirty="0"/>
          </a:p>
        </p:txBody>
      </p:sp>
      <p:sp>
        <p:nvSpPr>
          <p:cNvPr id="8" name="Shape 6"/>
          <p:cNvSpPr/>
          <p:nvPr/>
        </p:nvSpPr>
        <p:spPr>
          <a:xfrm>
            <a:off x="502920" y="3246120"/>
            <a:ext cx="384048" cy="384048"/>
          </a:xfrm>
          <a:prstGeom prst="ellipse">
            <a:avLst/>
          </a:prstGeom>
          <a:solidFill>
            <a:srgbClr val="F2A93B"/>
          </a:solidFill>
          <a:ln/>
        </p:spPr>
      </p:sp>
      <p:sp>
        <p:nvSpPr>
          <p:cNvPr id="9" name="Text 7"/>
          <p:cNvSpPr/>
          <p:nvPr/>
        </p:nvSpPr>
        <p:spPr>
          <a:xfrm>
            <a:off x="502920" y="324612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5</a:t>
            </a:r>
            <a:endParaRPr lang="en-US" sz="1500" dirty="0"/>
          </a:p>
        </p:txBody>
      </p:sp>
      <p:sp>
        <p:nvSpPr>
          <p:cNvPr id="10" name="Text 8"/>
          <p:cNvSpPr/>
          <p:nvPr/>
        </p:nvSpPr>
        <p:spPr>
          <a:xfrm>
            <a:off x="1069848" y="320040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Kit delivered, outcome recorded</a:t>
            </a:r>
            <a:endParaRPr lang="en-US" sz="1450" dirty="0"/>
          </a:p>
        </p:txBody>
      </p:sp>
      <p:sp>
        <p:nvSpPr>
          <p:cNvPr id="11" name="Text 9"/>
          <p:cNvSpPr/>
          <p:nvPr/>
        </p:nvSpPr>
        <p:spPr>
          <a:xfrm>
            <a:off x="1069848" y="352044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Served, escalated to clinical care, not found, or declined — every outcome is recorded, including a person's right to say no.</a:t>
            </a:r>
            <a:endParaRPr lang="en-US" sz="1200" dirty="0"/>
          </a:p>
        </p:txBody>
      </p:sp>
      <p:sp>
        <p:nvSpPr>
          <p:cNvPr id="12" name="Shape 10"/>
          <p:cNvSpPr/>
          <p:nvPr/>
        </p:nvSpPr>
        <p:spPr>
          <a:xfrm>
            <a:off x="502920" y="4526280"/>
            <a:ext cx="384048" cy="384048"/>
          </a:xfrm>
          <a:prstGeom prst="ellipse">
            <a:avLst/>
          </a:prstGeom>
          <a:solidFill>
            <a:srgbClr val="F2A93B"/>
          </a:solidFill>
          <a:ln/>
        </p:spPr>
      </p:sp>
      <p:sp>
        <p:nvSpPr>
          <p:cNvPr id="13" name="Text 11"/>
          <p:cNvSpPr/>
          <p:nvPr/>
        </p:nvSpPr>
        <p:spPr>
          <a:xfrm>
            <a:off x="502920" y="4526280"/>
            <a:ext cx="384048" cy="384048"/>
          </a:xfrm>
          <a:prstGeom prst="rect">
            <a:avLst/>
          </a:prstGeom>
          <a:noFill/>
          <a:ln/>
        </p:spPr>
        <p:txBody>
          <a:bodyPr wrap="square" lIns="0" tIns="0" rIns="0" bIns="0" rtlCol="0" anchor="ctr"/>
          <a:lstStyle/>
          <a:p>
            <a:pPr algn="ctr" indent="0" marL="0">
              <a:buNone/>
            </a:pPr>
            <a:r>
              <a:rPr lang="en-US" sz="1500" b="1" dirty="0">
                <a:solidFill>
                  <a:srgbClr val="0B0C10"/>
                </a:solidFill>
                <a:latin typeface="Courier New" pitchFamily="34" charset="0"/>
                <a:ea typeface="Courier New" pitchFamily="34" charset="-122"/>
                <a:cs typeface="Courier New" pitchFamily="34" charset="-120"/>
              </a:rPr>
              <a:t>6</a:t>
            </a:r>
            <a:endParaRPr lang="en-US" sz="1500" dirty="0"/>
          </a:p>
        </p:txBody>
      </p:sp>
      <p:sp>
        <p:nvSpPr>
          <p:cNvPr id="14" name="Text 12"/>
          <p:cNvSpPr/>
          <p:nvPr/>
        </p:nvSpPr>
        <p:spPr>
          <a:xfrm>
            <a:off x="1069848" y="4480560"/>
            <a:ext cx="6309360" cy="310896"/>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The witness is told how it ended</a:t>
            </a:r>
            <a:endParaRPr lang="en-US" sz="1450" dirty="0"/>
          </a:p>
        </p:txBody>
      </p:sp>
      <p:sp>
        <p:nvSpPr>
          <p:cNvPr id="15" name="Text 13"/>
          <p:cNvSpPr/>
          <p:nvPr/>
        </p:nvSpPr>
        <p:spPr>
          <a:xfrm>
            <a:off x="1069848" y="4800600"/>
            <a:ext cx="6355080" cy="86868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“Meena reached him, help was given. Thank you.” Not silence — an answer, which is the whole point.</a:t>
            </a:r>
            <a:endParaRPr lang="en-US" sz="1200" dirty="0"/>
          </a:p>
        </p:txBody>
      </p:sp>
      <p:pic>
        <p:nvPicPr>
          <p:cNvPr id="16" name="Image 0" descr="/home/user/register/research/pitch/assets/resp-offer.png">    </p:cNvPr>
          <p:cNvPicPr>
            <a:picLocks noChangeAspect="1"/>
          </p:cNvPicPr>
          <p:nvPr/>
        </p:nvPicPr>
        <p:blipFill>
          <a:blip r:embed="rId1"/>
          <a:stretch>
            <a:fillRect/>
          </a:stretch>
        </p:blipFill>
        <p:spPr>
          <a:xfrm>
            <a:off x="7818120" y="2011680"/>
            <a:ext cx="3794760" cy="1737360"/>
          </a:xfrm>
          <a:prstGeom prst="ellipse">
            <a:avLst/>
          </a:prstGeom>
        </p:spPr>
      </p:pic>
      <p:sp>
        <p:nvSpPr>
          <p:cNvPr id="17" name="Text 14"/>
          <p:cNvSpPr/>
          <p:nvPr/>
        </p:nvSpPr>
        <p:spPr>
          <a:xfrm>
            <a:off x="7818120" y="3840480"/>
            <a:ext cx="3840480" cy="365760"/>
          </a:xfrm>
          <a:prstGeom prst="rect">
            <a:avLst/>
          </a:prstGeom>
          <a:noFill/>
          <a:ln/>
        </p:spPr>
        <p:txBody>
          <a:bodyPr wrap="square" lIns="0" tIns="0" rIns="0" bIns="0" rtlCol="0" anchor="ctr"/>
          <a:lstStyle/>
          <a:p>
            <a:pPr indent="0" marL="0">
              <a:buNone/>
            </a:pPr>
            <a:r>
              <a:rPr lang="en-US" sz="900" dirty="0">
                <a:solidFill>
                  <a:srgbClr val="8B8A82"/>
                </a:solidFill>
                <a:latin typeface="Courier New" pitchFamily="34" charset="0"/>
                <a:ea typeface="Courier New" pitchFamily="34" charset="-122"/>
                <a:cs typeface="Courier New" pitchFamily="34" charset="-120"/>
              </a:rPr>
              <a:t>the responder's phone — accept, 3 minutes on the clock</a:t>
            </a:r>
            <a:endParaRPr lang="en-US" sz="900" dirty="0"/>
          </a:p>
        </p:txBody>
      </p:sp>
      <p:sp>
        <p:nvSpPr>
          <p:cNvPr id="18" name="Shape 15"/>
          <p:cNvSpPr/>
          <p:nvPr/>
        </p:nvSpPr>
        <p:spPr>
          <a:xfrm>
            <a:off x="502920" y="5843016"/>
            <a:ext cx="11155680" cy="0"/>
          </a:xfrm>
          <a:prstGeom prst="line">
            <a:avLst/>
          </a:prstGeom>
          <a:noFill/>
          <a:ln w="9525">
            <a:solidFill>
              <a:srgbClr val="2A2E38"/>
            </a:solidFill>
            <a:prstDash val="solid"/>
          </a:ln>
        </p:spPr>
      </p:sp>
      <p:sp>
        <p:nvSpPr>
          <p:cNvPr id="19" name="Text 16"/>
          <p:cNvSpPr/>
          <p:nvPr/>
        </p:nvSpPr>
        <p:spPr>
          <a:xfrm>
            <a:off x="502920" y="5989320"/>
            <a:ext cx="1115568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Value hypothesis: closing the loop turns one-time witnesses into repeat reporters — gratitude is the growth engine.</a:t>
            </a:r>
            <a:endParaRPr lang="en-US" sz="1450" dirty="0"/>
          </a:p>
        </p:txBody>
      </p:sp>
      <p:sp>
        <p:nvSpPr>
          <p:cNvPr id="20" name="Text 17"/>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6/13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04 — SEE IT RUN</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Not a mockup</a:t>
            </a:r>
            <a:endParaRPr lang="en-US" sz="3200" dirty="0"/>
          </a:p>
        </p:txBody>
      </p:sp>
      <p:sp>
        <p:nvSpPr>
          <p:cNvPr id="4" name="Text 2"/>
          <p:cNvSpPr/>
          <p:nvPr/>
        </p:nvSpPr>
        <p:spPr>
          <a:xfrm>
            <a:off x="502920" y="1783080"/>
            <a:ext cx="10515600" cy="822960"/>
          </a:xfrm>
          <a:prstGeom prst="rect">
            <a:avLst/>
          </a:prstGeom>
          <a:noFill/>
          <a:ln/>
        </p:spPr>
        <p:txBody>
          <a:bodyPr wrap="square" lIns="0" tIns="0" rIns="0" bIns="0" rtlCol="0" anchor="ctr"/>
          <a:lstStyle/>
          <a:p>
            <a:pPr indent="0" marL="0">
              <a:lnSpc>
                <a:spcPts val="2000"/>
              </a:lnSpc>
              <a:buNone/>
            </a:pPr>
            <a:r>
              <a:rPr lang="en-US" sz="1400" dirty="0">
                <a:solidFill>
                  <a:srgbClr val="C8C5BD"/>
                </a:solidFill>
                <a:latin typeface="Arial" pitchFamily="34" charset="0"/>
                <a:ea typeface="Arial" pitchFamily="34" charset="-122"/>
                <a:cs typeface="Arial" pitchFamily="34" charset="-120"/>
              </a:rPr>
              <a:t>111 automated tests. Three real surfaces — control room, responder phone, witness phone — running the same loop end to end, offline, with zero paid API calls.</a:t>
            </a:r>
            <a:endParaRPr lang="en-US" sz="1400" dirty="0"/>
          </a:p>
        </p:txBody>
      </p:sp>
      <p:pic>
        <p:nvPicPr>
          <p:cNvPr id="5" name="Image 0" descr="/home/user/register/research/pitch/assets/room.png">    </p:cNvPr>
          <p:cNvPicPr>
            <a:picLocks noChangeAspect="1"/>
          </p:cNvPicPr>
          <p:nvPr/>
        </p:nvPicPr>
        <p:blipFill>
          <a:blip r:embed="rId1"/>
          <a:stretch>
            <a:fillRect/>
          </a:stretch>
        </p:blipFill>
        <p:spPr>
          <a:xfrm>
            <a:off x="502920" y="2331720"/>
            <a:ext cx="6537960" cy="3657600"/>
          </a:xfrm>
          <a:prstGeom prst="ellipse">
            <a:avLst/>
          </a:prstGeom>
        </p:spPr>
      </p:pic>
      <p:sp>
        <p:nvSpPr>
          <p:cNvPr id="6" name="Text 3"/>
          <p:cNvSpPr/>
          <p:nvPr/>
        </p:nvSpPr>
        <p:spPr>
          <a:xfrm>
            <a:off x="502920" y="6053328"/>
            <a:ext cx="6903720" cy="274320"/>
          </a:xfrm>
          <a:prstGeom prst="rect">
            <a:avLst/>
          </a:prstGeom>
          <a:noFill/>
          <a:ln/>
        </p:spPr>
        <p:txBody>
          <a:bodyPr wrap="square" lIns="0" tIns="0" rIns="0" bIns="0" rtlCol="0" anchor="ctr"/>
          <a:lstStyle/>
          <a:p>
            <a:pPr indent="0" marL="0">
              <a:buNone/>
            </a:pPr>
            <a:r>
              <a:rPr lang="en-US" sz="950" dirty="0">
                <a:solidFill>
                  <a:srgbClr val="8B8A82"/>
                </a:solidFill>
                <a:latin typeface="Courier New" pitchFamily="34" charset="0"/>
                <a:ea typeface="Courier New" pitchFamily="34" charset="-122"/>
                <a:cs typeface="Courier New" pitchFamily="34" charset="-120"/>
              </a:rPr>
              <a:t>the control room, mid-shift — dispatch waves, kit stock, coordinator queue, live ops feed</a:t>
            </a:r>
            <a:endParaRPr lang="en-US" sz="950" dirty="0"/>
          </a:p>
        </p:txBody>
      </p:sp>
      <p:sp>
        <p:nvSpPr>
          <p:cNvPr id="7" name="Text 4"/>
          <p:cNvSpPr/>
          <p:nvPr/>
        </p:nvSpPr>
        <p:spPr>
          <a:xfrm>
            <a:off x="8092440" y="2468880"/>
            <a:ext cx="3566160" cy="292608"/>
          </a:xfrm>
          <a:prstGeom prst="rect">
            <a:avLst/>
          </a:prstGeom>
          <a:noFill/>
          <a:ln/>
        </p:spPr>
        <p:txBody>
          <a:bodyPr wrap="square" lIns="0" tIns="0" rIns="0" bIns="0" rtlCol="0" anchor="ctr"/>
          <a:lstStyle/>
          <a:p>
            <a:pPr indent="0" marL="0">
              <a:buNone/>
            </a:pPr>
            <a:r>
              <a:rPr lang="en-US" sz="1350" b="1" dirty="0">
                <a:solidFill>
                  <a:srgbClr val="ECE9E2"/>
                </a:solidFill>
                <a:latin typeface="Arial" pitchFamily="34" charset="0"/>
                <a:ea typeface="Arial" pitchFamily="34" charset="-122"/>
                <a:cs typeface="Arial" pitchFamily="34" charset="-120"/>
              </a:rPr>
              <a:t>Control room</a:t>
            </a:r>
            <a:endParaRPr lang="en-US" sz="1350" dirty="0"/>
          </a:p>
        </p:txBody>
      </p:sp>
      <p:sp>
        <p:nvSpPr>
          <p:cNvPr id="8" name="Text 5"/>
          <p:cNvSpPr/>
          <p:nvPr/>
        </p:nvSpPr>
        <p:spPr>
          <a:xfrm>
            <a:off x="8092440" y="2779776"/>
            <a:ext cx="3566160" cy="822960"/>
          </a:xfrm>
          <a:prstGeom prst="rect">
            <a:avLst/>
          </a:prstGeom>
          <a:noFill/>
          <a:ln/>
        </p:spPr>
        <p:txBody>
          <a:bodyPr wrap="square" lIns="0" tIns="0" rIns="0" bIns="0" rtlCol="0" anchor="ctr"/>
          <a:lstStyle/>
          <a:p>
            <a:pPr indent="0" marL="0">
              <a:lnSpc>
                <a:spcPts val="1600"/>
              </a:lnSpc>
              <a:buNone/>
            </a:pPr>
            <a:r>
              <a:rPr lang="en-US" sz="1150" dirty="0">
                <a:solidFill>
                  <a:srgbClr val="C8C5BD"/>
                </a:solidFill>
                <a:latin typeface="Arial" pitchFamily="34" charset="0"/>
                <a:ea typeface="Arial" pitchFamily="34" charset="-122"/>
                <a:cs typeface="Arial" pitchFamily="34" charset="-120"/>
              </a:rPr>
              <a:t>Live map, dispatch waves, kit stock, kill-criteria dashboard.</a:t>
            </a:r>
            <a:endParaRPr lang="en-US" sz="1150" dirty="0"/>
          </a:p>
        </p:txBody>
      </p:sp>
      <p:sp>
        <p:nvSpPr>
          <p:cNvPr id="9" name="Text 6"/>
          <p:cNvSpPr/>
          <p:nvPr/>
        </p:nvSpPr>
        <p:spPr>
          <a:xfrm>
            <a:off x="8092440" y="3767328"/>
            <a:ext cx="3566160" cy="292608"/>
          </a:xfrm>
          <a:prstGeom prst="rect">
            <a:avLst/>
          </a:prstGeom>
          <a:noFill/>
          <a:ln/>
        </p:spPr>
        <p:txBody>
          <a:bodyPr wrap="square" lIns="0" tIns="0" rIns="0" bIns="0" rtlCol="0" anchor="ctr"/>
          <a:lstStyle/>
          <a:p>
            <a:pPr indent="0" marL="0">
              <a:buNone/>
            </a:pPr>
            <a:r>
              <a:rPr lang="en-US" sz="1350" b="1" dirty="0">
                <a:solidFill>
                  <a:srgbClr val="ECE9E2"/>
                </a:solidFill>
                <a:latin typeface="Arial" pitchFamily="34" charset="0"/>
                <a:ea typeface="Arial" pitchFamily="34" charset="-122"/>
                <a:cs typeface="Arial" pitchFamily="34" charset="-120"/>
              </a:rPr>
              <a:t>Responder app</a:t>
            </a:r>
            <a:endParaRPr lang="en-US" sz="1350" dirty="0"/>
          </a:p>
        </p:txBody>
      </p:sp>
      <p:sp>
        <p:nvSpPr>
          <p:cNvPr id="10" name="Text 7"/>
          <p:cNvSpPr/>
          <p:nvPr/>
        </p:nvSpPr>
        <p:spPr>
          <a:xfrm>
            <a:off x="8092440" y="4078224"/>
            <a:ext cx="3566160" cy="822960"/>
          </a:xfrm>
          <a:prstGeom prst="rect">
            <a:avLst/>
          </a:prstGeom>
          <a:noFill/>
          <a:ln/>
        </p:spPr>
        <p:txBody>
          <a:bodyPr wrap="square" lIns="0" tIns="0" rIns="0" bIns="0" rtlCol="0" anchor="ctr"/>
          <a:lstStyle/>
          <a:p>
            <a:pPr indent="0" marL="0">
              <a:lnSpc>
                <a:spcPts val="1600"/>
              </a:lnSpc>
              <a:buNone/>
            </a:pPr>
            <a:r>
              <a:rPr lang="en-US" sz="1150" dirty="0">
                <a:solidFill>
                  <a:srgbClr val="C8C5BD"/>
                </a:solidFill>
                <a:latin typeface="Arial" pitchFamily="34" charset="0"/>
                <a:ea typeface="Arial" pitchFamily="34" charset="-122"/>
                <a:cs typeface="Arial" pitchFamily="34" charset="-120"/>
              </a:rPr>
              <a:t>Offer ping → checklist → outcome, on any phone.</a:t>
            </a:r>
            <a:endParaRPr lang="en-US" sz="1150" dirty="0"/>
          </a:p>
        </p:txBody>
      </p:sp>
      <p:sp>
        <p:nvSpPr>
          <p:cNvPr id="11" name="Text 8"/>
          <p:cNvSpPr/>
          <p:nvPr/>
        </p:nvSpPr>
        <p:spPr>
          <a:xfrm>
            <a:off x="8092440" y="5065776"/>
            <a:ext cx="3566160" cy="292608"/>
          </a:xfrm>
          <a:prstGeom prst="rect">
            <a:avLst/>
          </a:prstGeom>
          <a:noFill/>
          <a:ln/>
        </p:spPr>
        <p:txBody>
          <a:bodyPr wrap="square" lIns="0" tIns="0" rIns="0" bIns="0" rtlCol="0" anchor="ctr"/>
          <a:lstStyle/>
          <a:p>
            <a:pPr indent="0" marL="0">
              <a:buNone/>
            </a:pPr>
            <a:r>
              <a:rPr lang="en-US" sz="1350" b="1" dirty="0">
                <a:solidFill>
                  <a:srgbClr val="ECE9E2"/>
                </a:solidFill>
                <a:latin typeface="Arial" pitchFamily="34" charset="0"/>
                <a:ea typeface="Arial" pitchFamily="34" charset="-122"/>
                <a:cs typeface="Arial" pitchFamily="34" charset="-120"/>
              </a:rPr>
              <a:t>Witness phone</a:t>
            </a:r>
            <a:endParaRPr lang="en-US" sz="1350" dirty="0"/>
          </a:p>
        </p:txBody>
      </p:sp>
      <p:sp>
        <p:nvSpPr>
          <p:cNvPr id="12" name="Text 9"/>
          <p:cNvSpPr/>
          <p:nvPr/>
        </p:nvSpPr>
        <p:spPr>
          <a:xfrm>
            <a:off x="8092440" y="5376672"/>
            <a:ext cx="3566160" cy="822960"/>
          </a:xfrm>
          <a:prstGeom prst="rect">
            <a:avLst/>
          </a:prstGeom>
          <a:noFill/>
          <a:ln/>
        </p:spPr>
        <p:txBody>
          <a:bodyPr wrap="square" lIns="0" tIns="0" rIns="0" bIns="0" rtlCol="0" anchor="ctr"/>
          <a:lstStyle/>
          <a:p>
            <a:pPr indent="0" marL="0">
              <a:lnSpc>
                <a:spcPts val="1600"/>
              </a:lnSpc>
              <a:buNone/>
            </a:pPr>
            <a:r>
              <a:rPr lang="en-US" sz="1150" dirty="0">
                <a:solidFill>
                  <a:srgbClr val="C8C5BD"/>
                </a:solidFill>
                <a:latin typeface="Arial" pitchFamily="34" charset="0"/>
                <a:ea typeface="Arial" pitchFamily="34" charset="-122"/>
                <a:cs typeface="Arial" pitchFamily="34" charset="-120"/>
              </a:rPr>
              <a:t>Trilingual chat, photo picker, live progress, a “still there?” check.</a:t>
            </a:r>
            <a:endParaRPr lang="en-US" sz="1150" dirty="0"/>
          </a:p>
        </p:txBody>
      </p:sp>
      <p:sp>
        <p:nvSpPr>
          <p:cNvPr id="13" name="Text 10"/>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7/13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04 — SEE IT RUN</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Dignity, and a paper trail</a:t>
            </a:r>
            <a:endParaRPr lang="en-US" sz="3200" dirty="0"/>
          </a:p>
        </p:txBody>
      </p:sp>
      <p:sp>
        <p:nvSpPr>
          <p:cNvPr id="4" name="Text 2"/>
          <p:cNvSpPr/>
          <p:nvPr/>
        </p:nvSpPr>
        <p:spPr>
          <a:xfrm>
            <a:off x="502920" y="1783080"/>
            <a:ext cx="9601200" cy="822960"/>
          </a:xfrm>
          <a:prstGeom prst="rect">
            <a:avLst/>
          </a:prstGeom>
          <a:noFill/>
          <a:ln/>
        </p:spPr>
        <p:txBody>
          <a:bodyPr wrap="square" lIns="0" tIns="0" rIns="0" bIns="0" rtlCol="0" anchor="ctr"/>
          <a:lstStyle/>
          <a:p>
            <a:pPr indent="0" marL="0">
              <a:lnSpc>
                <a:spcPts val="2000"/>
              </a:lnSpc>
              <a:buNone/>
            </a:pPr>
            <a:r>
              <a:rPr lang="en-US" sz="1400" dirty="0">
                <a:solidFill>
                  <a:srgbClr val="C8C5BD"/>
                </a:solidFill>
                <a:latin typeface="Arial" pitchFamily="34" charset="0"/>
                <a:ea typeface="Arial" pitchFamily="34" charset="-122"/>
                <a:cs typeface="Arial" pitchFamily="34" charset="-120"/>
              </a:rPr>
              <a:t>What a responder sees at the pin, and what a coordinator sees behind every case.</a:t>
            </a:r>
            <a:endParaRPr lang="en-US" sz="1400" dirty="0"/>
          </a:p>
        </p:txBody>
      </p:sp>
      <p:pic>
        <p:nvPicPr>
          <p:cNvPr id="5" name="Image 0" descr="/home/user/register/research/pitch/assets/resp-onsite.png">    </p:cNvPr>
          <p:cNvPicPr>
            <a:picLocks noChangeAspect="1"/>
          </p:cNvPicPr>
          <p:nvPr/>
        </p:nvPicPr>
        <p:blipFill>
          <a:blip r:embed="rId1"/>
          <a:stretch>
            <a:fillRect/>
          </a:stretch>
        </p:blipFill>
        <p:spPr>
          <a:xfrm>
            <a:off x="502920" y="2148840"/>
            <a:ext cx="1965960" cy="3895344"/>
          </a:xfrm>
          <a:prstGeom prst="ellipse">
            <a:avLst/>
          </a:prstGeom>
        </p:spPr>
      </p:pic>
      <p:sp>
        <p:nvSpPr>
          <p:cNvPr id="6" name="Text 3"/>
          <p:cNvSpPr/>
          <p:nvPr/>
        </p:nvSpPr>
        <p:spPr>
          <a:xfrm>
            <a:off x="502920" y="6080760"/>
            <a:ext cx="2103120" cy="411480"/>
          </a:xfrm>
          <a:prstGeom prst="rect">
            <a:avLst/>
          </a:prstGeom>
          <a:noFill/>
          <a:ln/>
        </p:spPr>
        <p:txBody>
          <a:bodyPr wrap="square" lIns="0" tIns="0" rIns="0" bIns="0" rtlCol="0" anchor="ctr"/>
          <a:lstStyle/>
          <a:p>
            <a:pPr indent="0" marL="0">
              <a:lnSpc>
                <a:spcPts val="1200"/>
              </a:lnSpc>
              <a:buNone/>
            </a:pPr>
            <a:r>
              <a:rPr lang="en-US" sz="900" dirty="0">
                <a:solidFill>
                  <a:srgbClr val="8B8A82"/>
                </a:solidFill>
                <a:latin typeface="Courier New" pitchFamily="34" charset="0"/>
                <a:ea typeface="Courier New" pitchFamily="34" charset="-122"/>
                <a:cs typeface="Courier New" pitchFamily="34" charset="-120"/>
              </a:rPr>
              <a:t>at the pin — greet, ask, don't assume, respect a no</a:t>
            </a:r>
            <a:endParaRPr lang="en-US" sz="900" dirty="0"/>
          </a:p>
        </p:txBody>
      </p:sp>
      <p:pic>
        <p:nvPicPr>
          <p:cNvPr id="7" name="Image 1" descr="/home/user/register/research/pitch/assets/coordinator.png">    </p:cNvPr>
          <p:cNvPicPr>
            <a:picLocks noChangeAspect="1"/>
          </p:cNvPicPr>
          <p:nvPr/>
        </p:nvPicPr>
        <p:blipFill>
          <a:blip r:embed="rId2"/>
          <a:stretch>
            <a:fillRect/>
          </a:stretch>
        </p:blipFill>
        <p:spPr>
          <a:xfrm>
            <a:off x="2697480" y="2148840"/>
            <a:ext cx="3822192" cy="3895344"/>
          </a:xfrm>
          <a:prstGeom prst="ellipse">
            <a:avLst/>
          </a:prstGeom>
        </p:spPr>
      </p:pic>
      <p:sp>
        <p:nvSpPr>
          <p:cNvPr id="8" name="Text 4"/>
          <p:cNvSpPr/>
          <p:nvPr/>
        </p:nvSpPr>
        <p:spPr>
          <a:xfrm>
            <a:off x="2697480" y="6080760"/>
            <a:ext cx="3931920" cy="411480"/>
          </a:xfrm>
          <a:prstGeom prst="rect">
            <a:avLst/>
          </a:prstGeom>
          <a:noFill/>
          <a:ln/>
        </p:spPr>
        <p:txBody>
          <a:bodyPr wrap="square" lIns="0" tIns="0" rIns="0" bIns="0" rtlCol="0" anchor="ctr"/>
          <a:lstStyle/>
          <a:p>
            <a:pPr indent="0" marL="0">
              <a:lnSpc>
                <a:spcPts val="1200"/>
              </a:lnSpc>
              <a:buNone/>
            </a:pPr>
            <a:r>
              <a:rPr lang="en-US" sz="900" dirty="0">
                <a:solidFill>
                  <a:srgbClr val="8B8A82"/>
                </a:solidFill>
                <a:latin typeface="Courier New" pitchFamily="34" charset="0"/>
                <a:ea typeface="Courier New" pitchFamily="34" charset="-122"/>
                <a:cs typeface="Courier New" pitchFamily="34" charset="-120"/>
              </a:rPr>
              <a:t>the coordinator's view — full provenance, from report to order to outcome, HMAC-signed</a:t>
            </a:r>
            <a:endParaRPr lang="en-US" sz="900" dirty="0"/>
          </a:p>
        </p:txBody>
      </p:sp>
      <p:sp>
        <p:nvSpPr>
          <p:cNvPr id="9" name="Shape 5"/>
          <p:cNvSpPr/>
          <p:nvPr/>
        </p:nvSpPr>
        <p:spPr>
          <a:xfrm>
            <a:off x="6903720" y="2148840"/>
            <a:ext cx="4782312" cy="3895344"/>
          </a:xfrm>
          <a:prstGeom prst="roundRect">
            <a:avLst>
              <a:gd name="adj" fmla="val 2817"/>
            </a:avLst>
          </a:prstGeom>
          <a:solidFill>
            <a:srgbClr val="14161C"/>
          </a:solidFill>
          <a:ln w="12700">
            <a:solidFill>
              <a:srgbClr val="2A2E38"/>
            </a:solidFill>
            <a:prstDash val="solid"/>
          </a:ln>
        </p:spPr>
      </p:sp>
      <p:sp>
        <p:nvSpPr>
          <p:cNvPr id="10" name="Text 6"/>
          <p:cNvSpPr/>
          <p:nvPr/>
        </p:nvSpPr>
        <p:spPr>
          <a:xfrm>
            <a:off x="7178040" y="2423160"/>
            <a:ext cx="4206240" cy="274320"/>
          </a:xfrm>
          <a:prstGeom prst="rect">
            <a:avLst/>
          </a:prstGeom>
          <a:noFill/>
          <a:ln/>
        </p:spPr>
        <p:txBody>
          <a:bodyPr wrap="square" lIns="0" tIns="0" rIns="0" bIns="0" rtlCol="0" anchor="ctr"/>
          <a:lstStyle/>
          <a:p>
            <a:pPr indent="0" marL="0">
              <a:buNone/>
            </a:pPr>
            <a:r>
              <a:rPr lang="en-US" sz="1000" spc="200" kern="0" dirty="0">
                <a:solidFill>
                  <a:srgbClr val="F2A93B"/>
                </a:solidFill>
                <a:latin typeface="Courier New" pitchFamily="34" charset="0"/>
                <a:ea typeface="Courier New" pitchFamily="34" charset="-122"/>
                <a:cs typeface="Courier New" pitchFamily="34" charset="-120"/>
              </a:rPr>
              <a:t>ON RECORD</a:t>
            </a:r>
            <a:endParaRPr lang="en-US" sz="1000" dirty="0"/>
          </a:p>
        </p:txBody>
      </p:sp>
      <p:sp>
        <p:nvSpPr>
          <p:cNvPr id="11" name="Text 7"/>
          <p:cNvSpPr/>
          <p:nvPr/>
        </p:nvSpPr>
        <p:spPr>
          <a:xfrm>
            <a:off x="7178040" y="2788920"/>
            <a:ext cx="4206240" cy="1463040"/>
          </a:xfrm>
          <a:prstGeom prst="rect">
            <a:avLst/>
          </a:prstGeom>
          <a:noFill/>
          <a:ln/>
        </p:spPr>
        <p:txBody>
          <a:bodyPr wrap="square" lIns="0" tIns="0" rIns="0" bIns="0" rtlCol="0" anchor="ctr"/>
          <a:lstStyle/>
          <a:p>
            <a:pPr indent="0" marL="0">
              <a:lnSpc>
                <a:spcPts val="1700"/>
              </a:lnSpc>
              <a:buNone/>
            </a:pPr>
            <a:r>
              <a:rPr lang="en-US" sz="1200" dirty="0">
                <a:solidFill>
                  <a:srgbClr val="C8C5BD"/>
                </a:solidFill>
                <a:latin typeface="Arial" pitchFamily="34" charset="0"/>
                <a:ea typeface="Arial" pitchFamily="34" charset="-122"/>
                <a:cs typeface="Arial" pitchFamily="34" charset="-120"/>
              </a:rPr>
              <a:t>Screens shown as captured during development, under the project's original working name — a rename pass to Wayside is under way across the running product.</a:t>
            </a:r>
            <a:endParaRPr lang="en-US" sz="1200" dirty="0"/>
          </a:p>
        </p:txBody>
      </p:sp>
      <p:sp>
        <p:nvSpPr>
          <p:cNvPr id="12" name="Text 8"/>
          <p:cNvSpPr/>
          <p:nvPr/>
        </p:nvSpPr>
        <p:spPr>
          <a:xfrm>
            <a:off x="7178040" y="4663440"/>
            <a:ext cx="4206240" cy="1280160"/>
          </a:xfrm>
          <a:prstGeom prst="rect">
            <a:avLst/>
          </a:prstGeom>
          <a:noFill/>
          <a:ln/>
        </p:spPr>
        <p:txBody>
          <a:bodyPr wrap="square" lIns="0" tIns="0" rIns="0" bIns="0" rtlCol="0" anchor="ctr"/>
          <a:lstStyle/>
          <a:p>
            <a:pPr indent="0" marL="0">
              <a:lnSpc>
                <a:spcPts val="1700"/>
              </a:lnSpc>
              <a:buNone/>
            </a:pPr>
            <a:r>
              <a:rPr lang="en-US" sz="1200" i="1" dirty="0">
                <a:solidFill>
                  <a:srgbClr val="F2A93B"/>
                </a:solidFill>
                <a:latin typeface="Georgia" pitchFamily="34" charset="0"/>
                <a:ea typeface="Georgia" pitchFamily="34" charset="-122"/>
                <a:cs typeface="Georgia" pitchFamily="34" charset="-120"/>
              </a:rPr>
              <a:t>Recorded 2:22 walkthrough and an interactive session replay available on request.</a:t>
            </a:r>
            <a:endParaRPr lang="en-US" sz="1200" dirty="0"/>
          </a:p>
        </p:txBody>
      </p:sp>
      <p:sp>
        <p:nvSpPr>
          <p:cNvPr id="13" name="Text 9"/>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8/13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05 — WHO PAYS</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NGOs and CSR budgets, buying verified outcomes</a:t>
            </a:r>
            <a:endParaRPr lang="en-US" sz="3200" dirty="0"/>
          </a:p>
        </p:txBody>
      </p:sp>
      <p:sp>
        <p:nvSpPr>
          <p:cNvPr id="4" name="Shape 2"/>
          <p:cNvSpPr/>
          <p:nvPr/>
        </p:nvSpPr>
        <p:spPr>
          <a:xfrm>
            <a:off x="502920" y="1828800"/>
            <a:ext cx="5440680" cy="1965960"/>
          </a:xfrm>
          <a:prstGeom prst="roundRect">
            <a:avLst>
              <a:gd name="adj" fmla="val 4651"/>
            </a:avLst>
          </a:prstGeom>
          <a:solidFill>
            <a:srgbClr val="14161C"/>
          </a:solidFill>
          <a:ln w="12700">
            <a:solidFill>
              <a:srgbClr val="2A2E38"/>
            </a:solidFill>
            <a:prstDash val="solid"/>
          </a:ln>
        </p:spPr>
      </p:sp>
      <p:sp>
        <p:nvSpPr>
          <p:cNvPr id="5" name="Shape 3"/>
          <p:cNvSpPr/>
          <p:nvPr/>
        </p:nvSpPr>
        <p:spPr>
          <a:xfrm>
            <a:off x="777240" y="2103120"/>
            <a:ext cx="146304" cy="146304"/>
          </a:xfrm>
          <a:prstGeom prst="ellipse">
            <a:avLst/>
          </a:prstGeom>
          <a:solidFill>
            <a:srgbClr val="3987E5"/>
          </a:solidFill>
          <a:ln/>
        </p:spPr>
      </p:sp>
      <p:sp>
        <p:nvSpPr>
          <p:cNvPr id="6" name="Text 4"/>
          <p:cNvSpPr/>
          <p:nvPr/>
        </p:nvSpPr>
        <p:spPr>
          <a:xfrm>
            <a:off x="1051560" y="1993392"/>
            <a:ext cx="4572000" cy="347472"/>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Who buys</a:t>
            </a:r>
            <a:endParaRPr lang="en-US" sz="1450" dirty="0"/>
          </a:p>
        </p:txBody>
      </p:sp>
      <p:sp>
        <p:nvSpPr>
          <p:cNvPr id="7" name="Text 5"/>
          <p:cNvSpPr/>
          <p:nvPr/>
        </p:nvSpPr>
        <p:spPr>
          <a:xfrm>
            <a:off x="777240" y="2423160"/>
            <a:ext cx="4892040" cy="12801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NGO street-outreach programs and the CSR funders behind them — India mandates 2% of corporate profit to CSR — plus municipal shelter boards.</a:t>
            </a:r>
            <a:endParaRPr lang="en-US" sz="1200" dirty="0"/>
          </a:p>
        </p:txBody>
      </p:sp>
      <p:sp>
        <p:nvSpPr>
          <p:cNvPr id="8" name="Shape 6"/>
          <p:cNvSpPr/>
          <p:nvPr/>
        </p:nvSpPr>
        <p:spPr>
          <a:xfrm>
            <a:off x="6217920" y="1828800"/>
            <a:ext cx="5440680" cy="1965960"/>
          </a:xfrm>
          <a:prstGeom prst="roundRect">
            <a:avLst>
              <a:gd name="adj" fmla="val 4651"/>
            </a:avLst>
          </a:prstGeom>
          <a:solidFill>
            <a:srgbClr val="14161C"/>
          </a:solidFill>
          <a:ln w="12700">
            <a:solidFill>
              <a:srgbClr val="2A2E38"/>
            </a:solidFill>
            <a:prstDash val="solid"/>
          </a:ln>
        </p:spPr>
      </p:sp>
      <p:sp>
        <p:nvSpPr>
          <p:cNvPr id="9" name="Shape 7"/>
          <p:cNvSpPr/>
          <p:nvPr/>
        </p:nvSpPr>
        <p:spPr>
          <a:xfrm>
            <a:off x="6492240" y="2103120"/>
            <a:ext cx="146304" cy="146304"/>
          </a:xfrm>
          <a:prstGeom prst="ellipse">
            <a:avLst/>
          </a:prstGeom>
          <a:solidFill>
            <a:srgbClr val="D95926"/>
          </a:solidFill>
          <a:ln/>
        </p:spPr>
      </p:sp>
      <p:sp>
        <p:nvSpPr>
          <p:cNvPr id="10" name="Text 8"/>
          <p:cNvSpPr/>
          <p:nvPr/>
        </p:nvSpPr>
        <p:spPr>
          <a:xfrm>
            <a:off x="6766560" y="1993392"/>
            <a:ext cx="4572000" cy="347472"/>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Pain solved</a:t>
            </a:r>
            <a:endParaRPr lang="en-US" sz="1450" dirty="0"/>
          </a:p>
        </p:txBody>
      </p:sp>
      <p:sp>
        <p:nvSpPr>
          <p:cNvPr id="11" name="Text 9"/>
          <p:cNvSpPr/>
          <p:nvPr/>
        </p:nvSpPr>
        <p:spPr>
          <a:xfrm>
            <a:off x="6492240" y="2423160"/>
            <a:ext cx="4892040" cy="12801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Outreach teams find people too late and blind; donors get activity reports, not verified outcomes; data practices now carry DPDP legal risk.</a:t>
            </a:r>
            <a:endParaRPr lang="en-US" sz="1200" dirty="0"/>
          </a:p>
        </p:txBody>
      </p:sp>
      <p:sp>
        <p:nvSpPr>
          <p:cNvPr id="12" name="Shape 10"/>
          <p:cNvSpPr/>
          <p:nvPr/>
        </p:nvSpPr>
        <p:spPr>
          <a:xfrm>
            <a:off x="502920" y="3977640"/>
            <a:ext cx="5440680" cy="1965960"/>
          </a:xfrm>
          <a:prstGeom prst="roundRect">
            <a:avLst>
              <a:gd name="adj" fmla="val 4651"/>
            </a:avLst>
          </a:prstGeom>
          <a:solidFill>
            <a:srgbClr val="14161C"/>
          </a:solidFill>
          <a:ln w="12700">
            <a:solidFill>
              <a:srgbClr val="2A2E38"/>
            </a:solidFill>
            <a:prstDash val="solid"/>
          </a:ln>
        </p:spPr>
      </p:sp>
      <p:sp>
        <p:nvSpPr>
          <p:cNvPr id="13" name="Shape 11"/>
          <p:cNvSpPr/>
          <p:nvPr/>
        </p:nvSpPr>
        <p:spPr>
          <a:xfrm>
            <a:off x="777240" y="4251960"/>
            <a:ext cx="146304" cy="146304"/>
          </a:xfrm>
          <a:prstGeom prst="ellipse">
            <a:avLst/>
          </a:prstGeom>
          <a:solidFill>
            <a:srgbClr val="199E70"/>
          </a:solidFill>
          <a:ln/>
        </p:spPr>
      </p:sp>
      <p:sp>
        <p:nvSpPr>
          <p:cNvPr id="14" name="Text 12"/>
          <p:cNvSpPr/>
          <p:nvPr/>
        </p:nvSpPr>
        <p:spPr>
          <a:xfrm>
            <a:off x="1051560" y="4142232"/>
            <a:ext cx="4572000" cy="347472"/>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What they get</a:t>
            </a:r>
            <a:endParaRPr lang="en-US" sz="1450" dirty="0"/>
          </a:p>
        </p:txBody>
      </p:sp>
      <p:sp>
        <p:nvSpPr>
          <p:cNvPr id="15" name="Text 13"/>
          <p:cNvSpPr/>
          <p:nvPr/>
        </p:nvSpPr>
        <p:spPr>
          <a:xfrm>
            <a:off x="777240" y="4572000"/>
            <a:ext cx="4892040" cy="12801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A per-zone service: verified need → delivered kit → coded outcome, with provenance-tagged records and privacy by architecture — audit-ready.</a:t>
            </a:r>
            <a:endParaRPr lang="en-US" sz="1200" dirty="0"/>
          </a:p>
        </p:txBody>
      </p:sp>
      <p:sp>
        <p:nvSpPr>
          <p:cNvPr id="16" name="Shape 14"/>
          <p:cNvSpPr/>
          <p:nvPr/>
        </p:nvSpPr>
        <p:spPr>
          <a:xfrm>
            <a:off x="6217920" y="3977640"/>
            <a:ext cx="5440680" cy="1965960"/>
          </a:xfrm>
          <a:prstGeom prst="roundRect">
            <a:avLst>
              <a:gd name="adj" fmla="val 4651"/>
            </a:avLst>
          </a:prstGeom>
          <a:solidFill>
            <a:srgbClr val="14161C"/>
          </a:solidFill>
          <a:ln w="12700">
            <a:solidFill>
              <a:srgbClr val="2A2E38"/>
            </a:solidFill>
            <a:prstDash val="solid"/>
          </a:ln>
        </p:spPr>
      </p:sp>
      <p:sp>
        <p:nvSpPr>
          <p:cNvPr id="17" name="Shape 15"/>
          <p:cNvSpPr/>
          <p:nvPr/>
        </p:nvSpPr>
        <p:spPr>
          <a:xfrm>
            <a:off x="6492240" y="4251960"/>
            <a:ext cx="146304" cy="146304"/>
          </a:xfrm>
          <a:prstGeom prst="ellipse">
            <a:avLst/>
          </a:prstGeom>
          <a:solidFill>
            <a:srgbClr val="0CA30C"/>
          </a:solidFill>
          <a:ln/>
        </p:spPr>
      </p:sp>
      <p:sp>
        <p:nvSpPr>
          <p:cNvPr id="18" name="Text 16"/>
          <p:cNvSpPr/>
          <p:nvPr/>
        </p:nvSpPr>
        <p:spPr>
          <a:xfrm>
            <a:off x="6766560" y="4142232"/>
            <a:ext cx="4572000" cy="347472"/>
          </a:xfrm>
          <a:prstGeom prst="rect">
            <a:avLst/>
          </a:prstGeom>
          <a:noFill/>
          <a:ln/>
        </p:spPr>
        <p:txBody>
          <a:bodyPr wrap="square" lIns="0" tIns="0" rIns="0" bIns="0" rtlCol="0" anchor="ctr"/>
          <a:lstStyle/>
          <a:p>
            <a:pPr indent="0" marL="0">
              <a:buNone/>
            </a:pPr>
            <a:r>
              <a:rPr lang="en-US" sz="1450" b="1" dirty="0">
                <a:solidFill>
                  <a:srgbClr val="ECE9E2"/>
                </a:solidFill>
                <a:latin typeface="Arial" pitchFamily="34" charset="0"/>
                <a:ea typeface="Arial" pitchFamily="34" charset="-122"/>
                <a:cs typeface="Arial" pitchFamily="34" charset="-120"/>
              </a:rPr>
              <a:t>First customer</a:t>
            </a:r>
            <a:endParaRPr lang="en-US" sz="1450" dirty="0"/>
          </a:p>
        </p:txBody>
      </p:sp>
      <p:sp>
        <p:nvSpPr>
          <p:cNvPr id="19" name="Text 17"/>
          <p:cNvSpPr/>
          <p:nvPr/>
        </p:nvSpPr>
        <p:spPr>
          <a:xfrm>
            <a:off x="6492240" y="4572000"/>
            <a:ext cx="4892040" cy="12801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One Delhi NGO, one pilot zone — Nizamuddin. Reached through the Equitech network; NGO partner conversations start with this working demo. The pitch is a working demo, not a proposal.</a:t>
            </a:r>
            <a:endParaRPr lang="en-US" sz="1200" dirty="0"/>
          </a:p>
        </p:txBody>
      </p:sp>
      <p:sp>
        <p:nvSpPr>
          <p:cNvPr id="20" name="Shape 18"/>
          <p:cNvSpPr/>
          <p:nvPr/>
        </p:nvSpPr>
        <p:spPr>
          <a:xfrm>
            <a:off x="502920" y="6117336"/>
            <a:ext cx="8778240" cy="0"/>
          </a:xfrm>
          <a:prstGeom prst="line">
            <a:avLst/>
          </a:prstGeom>
          <a:noFill/>
          <a:ln w="9525">
            <a:solidFill>
              <a:srgbClr val="2A2E38"/>
            </a:solidFill>
            <a:prstDash val="solid"/>
          </a:ln>
        </p:spPr>
      </p:sp>
      <p:sp>
        <p:nvSpPr>
          <p:cNvPr id="21" name="Text 19"/>
          <p:cNvSpPr/>
          <p:nvPr/>
        </p:nvSpPr>
        <p:spPr>
          <a:xfrm>
            <a:off x="502920" y="6263640"/>
            <a:ext cx="877824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Unit economics to defend in the pilot: ~₹300 kit + delivery ≈ ₹430 per person served — kill line at ₹900.</a:t>
            </a:r>
            <a:endParaRPr lang="en-US" sz="1450" dirty="0"/>
          </a:p>
        </p:txBody>
      </p:sp>
      <p:sp>
        <p:nvSpPr>
          <p:cNvPr id="22" name="Text 20"/>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9/13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06 — WHO IT'S FOR</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Three users, and one deliberate non-user</a:t>
            </a:r>
            <a:endParaRPr lang="en-US" sz="3200" dirty="0"/>
          </a:p>
        </p:txBody>
      </p:sp>
      <p:sp>
        <p:nvSpPr>
          <p:cNvPr id="4" name="Shape 2"/>
          <p:cNvSpPr/>
          <p:nvPr/>
        </p:nvSpPr>
        <p:spPr>
          <a:xfrm>
            <a:off x="502920" y="1828800"/>
            <a:ext cx="3584448" cy="2148840"/>
          </a:xfrm>
          <a:prstGeom prst="roundRect">
            <a:avLst>
              <a:gd name="adj" fmla="val 4255"/>
            </a:avLst>
          </a:prstGeom>
          <a:solidFill>
            <a:srgbClr val="14161C"/>
          </a:solidFill>
          <a:ln w="12700">
            <a:solidFill>
              <a:srgbClr val="2A2E38"/>
            </a:solidFill>
            <a:prstDash val="solid"/>
          </a:ln>
        </p:spPr>
      </p:sp>
      <p:sp>
        <p:nvSpPr>
          <p:cNvPr id="5" name="Text 3"/>
          <p:cNvSpPr/>
          <p:nvPr/>
        </p:nvSpPr>
        <p:spPr>
          <a:xfrm>
            <a:off x="795528" y="2048256"/>
            <a:ext cx="3017520" cy="256032"/>
          </a:xfrm>
          <a:prstGeom prst="rect">
            <a:avLst/>
          </a:prstGeom>
          <a:noFill/>
          <a:ln/>
        </p:spPr>
        <p:txBody>
          <a:bodyPr wrap="square" lIns="0" tIns="0" rIns="0" bIns="0" rtlCol="0" anchor="ctr"/>
          <a:lstStyle/>
          <a:p>
            <a:pPr indent="0" marL="0">
              <a:buNone/>
            </a:pPr>
            <a:r>
              <a:rPr lang="en-US" sz="950" spc="150" kern="0" dirty="0">
                <a:solidFill>
                  <a:srgbClr val="F2A93B"/>
                </a:solidFill>
                <a:latin typeface="Courier New" pitchFamily="34" charset="0"/>
                <a:ea typeface="Courier New" pitchFamily="34" charset="-122"/>
                <a:cs typeface="Courier New" pitchFamily="34" charset="-120"/>
              </a:rPr>
              <a:t>THE WITNESS</a:t>
            </a:r>
            <a:endParaRPr lang="en-US" sz="950" dirty="0"/>
          </a:p>
        </p:txBody>
      </p:sp>
      <p:sp>
        <p:nvSpPr>
          <p:cNvPr id="6" name="Text 4"/>
          <p:cNvSpPr/>
          <p:nvPr/>
        </p:nvSpPr>
        <p:spPr>
          <a:xfrm>
            <a:off x="795528" y="2331720"/>
            <a:ext cx="3017520" cy="457200"/>
          </a:xfrm>
          <a:prstGeom prst="rect">
            <a:avLst/>
          </a:prstGeom>
          <a:noFill/>
          <a:ln/>
        </p:spPr>
        <p:txBody>
          <a:bodyPr wrap="square" lIns="0" tIns="0" rIns="0" bIns="0" rtlCol="0" anchor="ctr"/>
          <a:lstStyle/>
          <a:p>
            <a:pPr indent="0" marL="0">
              <a:buNone/>
            </a:pPr>
            <a:r>
              <a:rPr lang="en-US" sz="1500" b="1" dirty="0">
                <a:solidFill>
                  <a:srgbClr val="ECE9E2"/>
                </a:solidFill>
                <a:latin typeface="Arial" pitchFamily="34" charset="0"/>
                <a:ea typeface="Arial" pitchFamily="34" charset="-122"/>
                <a:cs typeface="Arial" pitchFamily="34" charset="-120"/>
              </a:rPr>
              <a:t>Any passer-by</a:t>
            </a:r>
            <a:endParaRPr lang="en-US" sz="1500" dirty="0"/>
          </a:p>
        </p:txBody>
      </p:sp>
      <p:sp>
        <p:nvSpPr>
          <p:cNvPr id="7" name="Text 5"/>
          <p:cNvSpPr/>
          <p:nvPr/>
        </p:nvSpPr>
        <p:spPr>
          <a:xfrm>
            <a:off x="795528" y="2816352"/>
            <a:ext cx="3063240" cy="10515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Uses only WhatsApp, nothing to install. Gets progress and closure, so they report again.</a:t>
            </a:r>
            <a:endParaRPr lang="en-US" sz="1200" dirty="0"/>
          </a:p>
        </p:txBody>
      </p:sp>
      <p:sp>
        <p:nvSpPr>
          <p:cNvPr id="8" name="Shape 6"/>
          <p:cNvSpPr/>
          <p:nvPr/>
        </p:nvSpPr>
        <p:spPr>
          <a:xfrm>
            <a:off x="4325112" y="1828800"/>
            <a:ext cx="3584448" cy="2148840"/>
          </a:xfrm>
          <a:prstGeom prst="roundRect">
            <a:avLst>
              <a:gd name="adj" fmla="val 4255"/>
            </a:avLst>
          </a:prstGeom>
          <a:solidFill>
            <a:srgbClr val="14161C"/>
          </a:solidFill>
          <a:ln w="12700">
            <a:solidFill>
              <a:srgbClr val="2A2E38"/>
            </a:solidFill>
            <a:prstDash val="solid"/>
          </a:ln>
        </p:spPr>
      </p:sp>
      <p:sp>
        <p:nvSpPr>
          <p:cNvPr id="9" name="Text 7"/>
          <p:cNvSpPr/>
          <p:nvPr/>
        </p:nvSpPr>
        <p:spPr>
          <a:xfrm>
            <a:off x="4617720" y="2048256"/>
            <a:ext cx="3017520" cy="256032"/>
          </a:xfrm>
          <a:prstGeom prst="rect">
            <a:avLst/>
          </a:prstGeom>
          <a:noFill/>
          <a:ln/>
        </p:spPr>
        <p:txBody>
          <a:bodyPr wrap="square" lIns="0" tIns="0" rIns="0" bIns="0" rtlCol="0" anchor="ctr"/>
          <a:lstStyle/>
          <a:p>
            <a:pPr indent="0" marL="0">
              <a:buNone/>
            </a:pPr>
            <a:r>
              <a:rPr lang="en-US" sz="950" spc="150" kern="0" dirty="0">
                <a:solidFill>
                  <a:srgbClr val="F2A93B"/>
                </a:solidFill>
                <a:latin typeface="Courier New" pitchFamily="34" charset="0"/>
                <a:ea typeface="Courier New" pitchFamily="34" charset="-122"/>
                <a:cs typeface="Courier New" pitchFamily="34" charset="-120"/>
              </a:rPr>
              <a:t>THE RESPONDER</a:t>
            </a:r>
            <a:endParaRPr lang="en-US" sz="950" dirty="0"/>
          </a:p>
        </p:txBody>
      </p:sp>
      <p:sp>
        <p:nvSpPr>
          <p:cNvPr id="10" name="Text 8"/>
          <p:cNvSpPr/>
          <p:nvPr/>
        </p:nvSpPr>
        <p:spPr>
          <a:xfrm>
            <a:off x="4617720" y="2331720"/>
            <a:ext cx="3017520" cy="457200"/>
          </a:xfrm>
          <a:prstGeom prst="rect">
            <a:avLst/>
          </a:prstGeom>
          <a:noFill/>
          <a:ln/>
        </p:spPr>
        <p:txBody>
          <a:bodyPr wrap="square" lIns="0" tIns="0" rIns="0" bIns="0" rtlCol="0" anchor="ctr"/>
          <a:lstStyle/>
          <a:p>
            <a:pPr indent="0" marL="0">
              <a:buNone/>
            </a:pPr>
            <a:r>
              <a:rPr lang="en-US" sz="1500" b="1" dirty="0">
                <a:solidFill>
                  <a:srgbClr val="ECE9E2"/>
                </a:solidFill>
                <a:latin typeface="Arial" pitchFamily="34" charset="0"/>
                <a:ea typeface="Arial" pitchFamily="34" charset="-122"/>
                <a:cs typeface="Arial" pitchFamily="34" charset="-120"/>
              </a:rPr>
              <a:t>A vetted NGO field worker</a:t>
            </a:r>
            <a:endParaRPr lang="en-US" sz="1500" dirty="0"/>
          </a:p>
        </p:txBody>
      </p:sp>
      <p:sp>
        <p:nvSpPr>
          <p:cNvPr id="11" name="Text 9"/>
          <p:cNvSpPr/>
          <p:nvPr/>
        </p:nvSpPr>
        <p:spPr>
          <a:xfrm>
            <a:off x="4617720" y="2816352"/>
            <a:ext cx="3063240" cy="10515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Gets the offer ping with kit, distance, and DIGIPIN. One tap records the outcome.</a:t>
            </a:r>
            <a:endParaRPr lang="en-US" sz="1200" dirty="0"/>
          </a:p>
        </p:txBody>
      </p:sp>
      <p:sp>
        <p:nvSpPr>
          <p:cNvPr id="12" name="Shape 10"/>
          <p:cNvSpPr/>
          <p:nvPr/>
        </p:nvSpPr>
        <p:spPr>
          <a:xfrm>
            <a:off x="8147304" y="1828800"/>
            <a:ext cx="3584448" cy="2148840"/>
          </a:xfrm>
          <a:prstGeom prst="roundRect">
            <a:avLst>
              <a:gd name="adj" fmla="val 4255"/>
            </a:avLst>
          </a:prstGeom>
          <a:solidFill>
            <a:srgbClr val="14161C"/>
          </a:solidFill>
          <a:ln w="12700">
            <a:solidFill>
              <a:srgbClr val="2A2E38"/>
            </a:solidFill>
            <a:prstDash val="solid"/>
          </a:ln>
        </p:spPr>
      </p:sp>
      <p:sp>
        <p:nvSpPr>
          <p:cNvPr id="13" name="Text 11"/>
          <p:cNvSpPr/>
          <p:nvPr/>
        </p:nvSpPr>
        <p:spPr>
          <a:xfrm>
            <a:off x="8439912" y="2048256"/>
            <a:ext cx="3017520" cy="256032"/>
          </a:xfrm>
          <a:prstGeom prst="rect">
            <a:avLst/>
          </a:prstGeom>
          <a:noFill/>
          <a:ln/>
        </p:spPr>
        <p:txBody>
          <a:bodyPr wrap="square" lIns="0" tIns="0" rIns="0" bIns="0" rtlCol="0" anchor="ctr"/>
          <a:lstStyle/>
          <a:p>
            <a:pPr indent="0" marL="0">
              <a:buNone/>
            </a:pPr>
            <a:r>
              <a:rPr lang="en-US" sz="950" spc="150" kern="0" dirty="0">
                <a:solidFill>
                  <a:srgbClr val="F2A93B"/>
                </a:solidFill>
                <a:latin typeface="Courier New" pitchFamily="34" charset="0"/>
                <a:ea typeface="Courier New" pitchFamily="34" charset="-122"/>
                <a:cs typeface="Courier New" pitchFamily="34" charset="-120"/>
              </a:rPr>
              <a:t>THE COORDINATOR</a:t>
            </a:r>
            <a:endParaRPr lang="en-US" sz="950" dirty="0"/>
          </a:p>
        </p:txBody>
      </p:sp>
      <p:sp>
        <p:nvSpPr>
          <p:cNvPr id="14" name="Text 12"/>
          <p:cNvSpPr/>
          <p:nvPr/>
        </p:nvSpPr>
        <p:spPr>
          <a:xfrm>
            <a:off x="8439912" y="2331720"/>
            <a:ext cx="3017520" cy="457200"/>
          </a:xfrm>
          <a:prstGeom prst="rect">
            <a:avLst/>
          </a:prstGeom>
          <a:noFill/>
          <a:ln/>
        </p:spPr>
        <p:txBody>
          <a:bodyPr wrap="square" lIns="0" tIns="0" rIns="0" bIns="0" rtlCol="0" anchor="ctr"/>
          <a:lstStyle/>
          <a:p>
            <a:pPr indent="0" marL="0">
              <a:buNone/>
            </a:pPr>
            <a:r>
              <a:rPr lang="en-US" sz="1500" b="1" dirty="0">
                <a:solidFill>
                  <a:srgbClr val="ECE9E2"/>
                </a:solidFill>
                <a:latin typeface="Arial" pitchFamily="34" charset="0"/>
                <a:ea typeface="Arial" pitchFamily="34" charset="-122"/>
                <a:cs typeface="Arial" pitchFamily="34" charset="-120"/>
              </a:rPr>
              <a:t>NGO staff</a:t>
            </a:r>
            <a:endParaRPr lang="en-US" sz="1500" dirty="0"/>
          </a:p>
        </p:txBody>
      </p:sp>
      <p:sp>
        <p:nvSpPr>
          <p:cNvPr id="15" name="Text 13"/>
          <p:cNvSpPr/>
          <p:nvPr/>
        </p:nvSpPr>
        <p:spPr>
          <a:xfrm>
            <a:off x="8439912" y="2816352"/>
            <a:ext cx="3063240" cy="1051560"/>
          </a:xfrm>
          <a:prstGeom prst="rect">
            <a:avLst/>
          </a:prstGeom>
          <a:noFill/>
          <a:ln/>
        </p:spPr>
        <p:txBody>
          <a:bodyPr wrap="square" lIns="0" tIns="0" rIns="0" bIns="0" rtlCol="0" anchor="ctr"/>
          <a:lstStyle/>
          <a:p>
            <a:pPr indent="0" marL="0">
              <a:lnSpc>
                <a:spcPts val="1650"/>
              </a:lnSpc>
              <a:buNone/>
            </a:pPr>
            <a:r>
              <a:rPr lang="en-US" sz="1200" dirty="0">
                <a:solidFill>
                  <a:srgbClr val="C8C5BD"/>
                </a:solidFill>
                <a:latin typeface="Arial" pitchFamily="34" charset="0"/>
                <a:ea typeface="Arial" pitchFamily="34" charset="-122"/>
                <a:cs typeface="Arial" pitchFamily="34" charset="-120"/>
              </a:rPr>
              <a:t>Watches the control room. Handles the edge cases the system refuses to guess at.</a:t>
            </a:r>
            <a:endParaRPr lang="en-US" sz="1200" dirty="0"/>
          </a:p>
        </p:txBody>
      </p:sp>
      <p:sp>
        <p:nvSpPr>
          <p:cNvPr id="16" name="Shape 14"/>
          <p:cNvSpPr/>
          <p:nvPr/>
        </p:nvSpPr>
        <p:spPr>
          <a:xfrm>
            <a:off x="502920" y="4206240"/>
            <a:ext cx="11183112" cy="1691640"/>
          </a:xfrm>
          <a:prstGeom prst="roundRect">
            <a:avLst>
              <a:gd name="adj" fmla="val 5405"/>
            </a:avLst>
          </a:prstGeom>
          <a:solidFill>
            <a:srgbClr val="14161C"/>
          </a:solidFill>
          <a:ln w="12700">
            <a:solidFill>
              <a:srgbClr val="2A2E38"/>
            </a:solidFill>
            <a:prstDash val="solid"/>
          </a:ln>
        </p:spPr>
      </p:sp>
      <p:sp>
        <p:nvSpPr>
          <p:cNvPr id="17" name="Text 15"/>
          <p:cNvSpPr/>
          <p:nvPr/>
        </p:nvSpPr>
        <p:spPr>
          <a:xfrm>
            <a:off x="822960" y="4434840"/>
            <a:ext cx="10515600" cy="365760"/>
          </a:xfrm>
          <a:prstGeom prst="rect">
            <a:avLst/>
          </a:prstGeom>
          <a:noFill/>
          <a:ln/>
        </p:spPr>
        <p:txBody>
          <a:bodyPr wrap="square" lIns="0" tIns="0" rIns="0" bIns="0" rtlCol="0" anchor="ctr"/>
          <a:lstStyle/>
          <a:p>
            <a:pPr indent="0" marL="0">
              <a:buNone/>
            </a:pPr>
            <a:r>
              <a:rPr lang="en-US" sz="1700" b="1" dirty="0">
                <a:solidFill>
                  <a:srgbClr val="ECE9E2"/>
                </a:solidFill>
                <a:latin typeface="Georgia" pitchFamily="34" charset="0"/>
                <a:ea typeface="Georgia" pitchFamily="34" charset="-122"/>
                <a:cs typeface="Georgia" pitchFamily="34" charset="-120"/>
              </a:rPr>
              <a:t>The person in need is served — never enrolled.</a:t>
            </a:r>
            <a:endParaRPr lang="en-US" sz="1700" dirty="0"/>
          </a:p>
        </p:txBody>
      </p:sp>
      <p:sp>
        <p:nvSpPr>
          <p:cNvPr id="18" name="Text 16"/>
          <p:cNvSpPr/>
          <p:nvPr/>
        </p:nvSpPr>
        <p:spPr>
          <a:xfrm>
            <a:off x="822960" y="4846320"/>
            <a:ext cx="10515600" cy="960120"/>
          </a:xfrm>
          <a:prstGeom prst="rect">
            <a:avLst/>
          </a:prstGeom>
          <a:noFill/>
          <a:ln/>
        </p:spPr>
        <p:txBody>
          <a:bodyPr wrap="square" lIns="0" tIns="0" rIns="0" bIns="0" rtlCol="0" anchor="ctr"/>
          <a:lstStyle/>
          <a:p>
            <a:pPr indent="0" marL="0">
              <a:lnSpc>
                <a:spcPts val="1800"/>
              </a:lnSpc>
              <a:buNone/>
            </a:pPr>
            <a:r>
              <a:rPr lang="en-US" sz="1250" dirty="0">
                <a:solidFill>
                  <a:srgbClr val="C8C5BD"/>
                </a:solidFill>
                <a:latin typeface="Arial" pitchFamily="34" charset="0"/>
                <a:ea typeface="Arial" pitchFamily="34" charset="-122"/>
                <a:cs typeface="Arial" pitchFamily="34" charset="-120"/>
              </a:rPr>
              <a:t>No name, no photo of a face, no profile is ever stored. Exact locations are wiped once a case closes; after 90 days only coarse heat-cells remain. In a country that still criminalises begging, the strongest protection is that the dangerous database never exists.</a:t>
            </a:r>
            <a:endParaRPr lang="en-US" sz="1250" dirty="0"/>
          </a:p>
        </p:txBody>
      </p:sp>
      <p:sp>
        <p:nvSpPr>
          <p:cNvPr id="19" name="Shape 17"/>
          <p:cNvSpPr/>
          <p:nvPr/>
        </p:nvSpPr>
        <p:spPr>
          <a:xfrm>
            <a:off x="502920" y="6117336"/>
            <a:ext cx="8229600" cy="0"/>
          </a:xfrm>
          <a:prstGeom prst="line">
            <a:avLst/>
          </a:prstGeom>
          <a:noFill/>
          <a:ln w="9525">
            <a:solidFill>
              <a:srgbClr val="2A2E38"/>
            </a:solidFill>
            <a:prstDash val="solid"/>
          </a:ln>
        </p:spPr>
      </p:sp>
      <p:sp>
        <p:nvSpPr>
          <p:cNvPr id="20" name="Text 18"/>
          <p:cNvSpPr/>
          <p:nvPr/>
        </p:nvSpPr>
        <p:spPr>
          <a:xfrm>
            <a:off x="502920" y="6263640"/>
            <a:ext cx="8229600" cy="457200"/>
          </a:xfrm>
          <a:prstGeom prst="rect">
            <a:avLst/>
          </a:prstGeom>
          <a:noFill/>
          <a:ln/>
        </p:spPr>
        <p:txBody>
          <a:bodyPr wrap="square" lIns="0" tIns="0" rIns="0" bIns="0" rtlCol="0" anchor="ctr"/>
          <a:lstStyle/>
          <a:p>
            <a:pPr indent="0" marL="0">
              <a:buNone/>
            </a:pPr>
            <a:r>
              <a:rPr lang="en-US" sz="1450" i="1" dirty="0">
                <a:solidFill>
                  <a:srgbClr val="F2A93B"/>
                </a:solidFill>
                <a:latin typeface="Georgia" pitchFamily="34" charset="0"/>
                <a:ea typeface="Georgia" pitchFamily="34" charset="-122"/>
                <a:cs typeface="Georgia" pitchFamily="34" charset="-120"/>
              </a:rPr>
              <a:t>Dignity is a design constraint, not a caption.</a:t>
            </a:r>
            <a:endParaRPr lang="en-US" sz="1450" dirty="0"/>
          </a:p>
        </p:txBody>
      </p:sp>
      <p:sp>
        <p:nvSpPr>
          <p:cNvPr id="21" name="Text 19"/>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10/13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07 — ROADMAP</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Three months to truth, twelve to scale — or an honest stop</a:t>
            </a:r>
            <a:endParaRPr lang="en-US" sz="3200" dirty="0"/>
          </a:p>
        </p:txBody>
      </p:sp>
      <p:sp>
        <p:nvSpPr>
          <p:cNvPr id="4" name="Text 2"/>
          <p:cNvSpPr/>
          <p:nvPr/>
        </p:nvSpPr>
        <p:spPr>
          <a:xfrm>
            <a:off x="502920" y="1874520"/>
            <a:ext cx="5486400" cy="292608"/>
          </a:xfrm>
          <a:prstGeom prst="rect">
            <a:avLst/>
          </a:prstGeom>
          <a:noFill/>
          <a:ln/>
        </p:spPr>
        <p:txBody>
          <a:bodyPr wrap="square" lIns="0" tIns="0" rIns="0" bIns="0" rtlCol="0" anchor="ctr"/>
          <a:lstStyle/>
          <a:p>
            <a:pPr indent="0" marL="0">
              <a:buNone/>
            </a:pPr>
            <a:r>
              <a:rPr lang="en-US" sz="1200" b="1" spc="100" kern="0" dirty="0">
                <a:solidFill>
                  <a:srgbClr val="3987E5"/>
                </a:solidFill>
                <a:latin typeface="Courier New" pitchFamily="34" charset="0"/>
                <a:ea typeface="Courier New" pitchFamily="34" charset="-122"/>
                <a:cs typeface="Courier New" pitchFamily="34" charset="-120"/>
              </a:rPr>
              <a:t>NEXT 3 MONTHS — ONE ZONE, REAL PEOPLE</a:t>
            </a:r>
            <a:endParaRPr lang="en-US" sz="1200" dirty="0"/>
          </a:p>
        </p:txBody>
      </p:sp>
      <p:sp>
        <p:nvSpPr>
          <p:cNvPr id="5" name="Text 3"/>
          <p:cNvSpPr/>
          <p:nvPr/>
        </p:nvSpPr>
        <p:spPr>
          <a:xfrm>
            <a:off x="502920" y="2286000"/>
            <a:ext cx="5577840" cy="2377440"/>
          </a:xfrm>
          <a:prstGeom prst="rect">
            <a:avLst/>
          </a:prstGeom>
          <a:noFill/>
          <a:ln/>
        </p:spPr>
        <p:txBody>
          <a:bodyPr wrap="square" lIns="0" tIns="0" rIns="0" bIns="0" rtlCol="0" anchor="ctr"/>
          <a:lstStyle/>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Real WhatsApp number live — transport is built, onboarding is configuration</a:t>
            </a:r>
            <a:endParaRPr lang="en-US" sz="1350" dirty="0"/>
          </a:p>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One NGO partner, 6–10 rostered responders, Nizamuddin pilot zone</a:t>
            </a:r>
            <a:endParaRPr lang="en-US" sz="1350" dirty="0"/>
          </a:p>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Hindi/Hinglish voice-note speech-to-text bake-off (Sarvam vs Whisper)</a:t>
            </a:r>
            <a:endParaRPr lang="en-US" sz="1350" dirty="0"/>
          </a:p>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8-week pilot measured against pre-registered kill criteria</a:t>
            </a:r>
            <a:endParaRPr lang="en-US" sz="1350" dirty="0"/>
          </a:p>
        </p:txBody>
      </p:sp>
      <p:sp>
        <p:nvSpPr>
          <p:cNvPr id="6" name="Text 4"/>
          <p:cNvSpPr/>
          <p:nvPr/>
        </p:nvSpPr>
        <p:spPr>
          <a:xfrm>
            <a:off x="6537960" y="1874520"/>
            <a:ext cx="5486400" cy="292608"/>
          </a:xfrm>
          <a:prstGeom prst="rect">
            <a:avLst/>
          </a:prstGeom>
          <a:noFill/>
          <a:ln/>
        </p:spPr>
        <p:txBody>
          <a:bodyPr wrap="square" lIns="0" tIns="0" rIns="0" bIns="0" rtlCol="0" anchor="ctr"/>
          <a:lstStyle/>
          <a:p>
            <a:pPr indent="0" marL="0">
              <a:buNone/>
            </a:pPr>
            <a:r>
              <a:rPr lang="en-US" sz="1200" b="1" spc="100" kern="0" dirty="0">
                <a:solidFill>
                  <a:srgbClr val="199E70"/>
                </a:solidFill>
                <a:latin typeface="Courier New" pitchFamily="34" charset="0"/>
                <a:ea typeface="Courier New" pitchFamily="34" charset="-122"/>
                <a:cs typeface="Courier New" pitchFamily="34" charset="-120"/>
              </a:rPr>
              <a:t>BY 12 MONTHS — IF THE NUMBERS HOLD</a:t>
            </a:r>
            <a:endParaRPr lang="en-US" sz="1200" dirty="0"/>
          </a:p>
        </p:txBody>
      </p:sp>
      <p:sp>
        <p:nvSpPr>
          <p:cNvPr id="7" name="Text 5"/>
          <p:cNvSpPr/>
          <p:nvPr/>
        </p:nvSpPr>
        <p:spPr>
          <a:xfrm>
            <a:off x="6537960" y="2286000"/>
            <a:ext cx="5212080" cy="2103120"/>
          </a:xfrm>
          <a:prstGeom prst="rect">
            <a:avLst/>
          </a:prstGeom>
          <a:noFill/>
          <a:ln/>
        </p:spPr>
        <p:txBody>
          <a:bodyPr wrap="square" lIns="0" tIns="0" rIns="0" bIns="0" rtlCol="0" anchor="ctr"/>
          <a:lstStyle/>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Three zones, two partners — onboarding a partner is config plus a playbook</a:t>
            </a:r>
            <a:endParaRPr lang="en-US" sz="1350" dirty="0"/>
          </a:p>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Voice-first reporting; DPDP audit and a published transparency report</a:t>
            </a:r>
            <a:endParaRPr lang="en-US" sz="1350" dirty="0"/>
          </a:p>
          <a:p>
            <a:pPr marL="342900" indent="-342900">
              <a:lnSpc>
                <a:spcPts val="1800"/>
              </a:lnSpc>
              <a:spcAft>
                <a:spcPts val="1200"/>
              </a:spcAft>
              <a:buSzPct val="100000"/>
              <a:buChar char="•"/>
            </a:pPr>
            <a:r>
              <a:rPr lang="en-US" sz="1350" dirty="0">
                <a:solidFill>
                  <a:srgbClr val="C8C5BD"/>
                </a:solidFill>
                <a:latin typeface="Arial" pitchFamily="34" charset="0"/>
                <a:ea typeface="Arial" pitchFamily="34" charset="-122"/>
                <a:cs typeface="Arial" pitchFamily="34" charset="-120"/>
              </a:rPr>
              <a:t>Public dashboard of outcomes — the same one the funders see</a:t>
            </a:r>
            <a:endParaRPr lang="en-US" sz="1350" dirty="0"/>
          </a:p>
        </p:txBody>
      </p:sp>
      <p:sp>
        <p:nvSpPr>
          <p:cNvPr id="8" name="Shape 6"/>
          <p:cNvSpPr/>
          <p:nvPr/>
        </p:nvSpPr>
        <p:spPr>
          <a:xfrm>
            <a:off x="502920" y="5074920"/>
            <a:ext cx="11183112" cy="1051560"/>
          </a:xfrm>
          <a:prstGeom prst="roundRect">
            <a:avLst>
              <a:gd name="adj" fmla="val 8696"/>
            </a:avLst>
          </a:prstGeom>
          <a:solidFill>
            <a:srgbClr val="14161C"/>
          </a:solidFill>
          <a:ln w="12700">
            <a:solidFill>
              <a:srgbClr val="2A2E38"/>
            </a:solidFill>
            <a:prstDash val="solid"/>
          </a:ln>
        </p:spPr>
      </p:sp>
      <p:sp>
        <p:nvSpPr>
          <p:cNvPr id="9" name="Text 7"/>
          <p:cNvSpPr/>
          <p:nvPr/>
        </p:nvSpPr>
        <p:spPr>
          <a:xfrm>
            <a:off x="777240" y="5074920"/>
            <a:ext cx="10607040" cy="1051560"/>
          </a:xfrm>
          <a:prstGeom prst="rect">
            <a:avLst/>
          </a:prstGeom>
          <a:noFill/>
          <a:ln/>
        </p:spPr>
        <p:txBody>
          <a:bodyPr wrap="square" lIns="0" tIns="0" rIns="0" bIns="0" rtlCol="0" anchor="ctr"/>
          <a:lstStyle/>
          <a:p>
            <a:pPr indent="0" marL="0">
              <a:lnSpc>
                <a:spcPts val="1800"/>
              </a:lnSpc>
              <a:buNone/>
            </a:pPr>
            <a:r>
              <a:rPr lang="en-US" sz="1300" b="1" dirty="0">
                <a:solidFill>
                  <a:srgbClr val="ECE9E2"/>
                </a:solidFill>
                <a:latin typeface="Arial" pitchFamily="34" charset="0"/>
                <a:ea typeface="Arial" pitchFamily="34" charset="-122"/>
                <a:cs typeface="Arial" pitchFamily="34" charset="-120"/>
              </a:rPr>
              <a:t>Resources needed:  </a:t>
            </a:r>
            <a:pPr indent="0" marL="0">
              <a:lnSpc>
                <a:spcPts val="1800"/>
              </a:lnSpc>
              <a:buNone/>
            </a:pPr>
            <a:r>
              <a:rPr lang="en-US" sz="1300" dirty="0">
                <a:solidFill>
                  <a:srgbClr val="C8C5BD"/>
                </a:solidFill>
                <a:latin typeface="Arial" pitchFamily="34" charset="0"/>
                <a:ea typeface="Arial" pitchFamily="34" charset="-122"/>
                <a:cs typeface="Arial" pitchFamily="34" charset="-120"/>
              </a:rPr>
              <a:t>pilot grant (kits, responder stipends, WhatsApp + AI costs, DPIA/legal review) · partner introductions · mentorship on NGO ops.</a:t>
            </a:r>
            <a:endParaRPr lang="en-US" sz="1300" dirty="0"/>
          </a:p>
        </p:txBody>
      </p:sp>
      <p:sp>
        <p:nvSpPr>
          <p:cNvPr id="10" name="Text 8"/>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11/13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502920"/>
            <a:ext cx="11183112" cy="274320"/>
          </a:xfrm>
          <a:prstGeom prst="rect">
            <a:avLst/>
          </a:prstGeom>
          <a:noFill/>
          <a:ln/>
        </p:spPr>
        <p:txBody>
          <a:bodyPr wrap="square" lIns="0" tIns="0" rIns="0" bIns="0" rtlCol="0" anchor="ctr"/>
          <a:lstStyle/>
          <a:p>
            <a:pPr indent="0" marL="0">
              <a:buNone/>
            </a:pPr>
            <a:r>
              <a:rPr lang="en-US" sz="1100" spc="300" kern="0" dirty="0">
                <a:solidFill>
                  <a:srgbClr val="F2A93B"/>
                </a:solidFill>
                <a:latin typeface="Courier New" pitchFamily="34" charset="0"/>
                <a:ea typeface="Courier New" pitchFamily="34" charset="-122"/>
                <a:cs typeface="Courier New" pitchFamily="34" charset="-120"/>
              </a:rPr>
              <a:t>07 — ROADMAP · KILL CRITERIA</a:t>
            </a:r>
            <a:endParaRPr lang="en-US" sz="1100" dirty="0"/>
          </a:p>
        </p:txBody>
      </p:sp>
      <p:sp>
        <p:nvSpPr>
          <p:cNvPr id="3" name="Text 1"/>
          <p:cNvSpPr/>
          <p:nvPr/>
        </p:nvSpPr>
        <p:spPr>
          <a:xfrm>
            <a:off x="502920" y="841248"/>
            <a:ext cx="11183112" cy="960120"/>
          </a:xfrm>
          <a:prstGeom prst="rect">
            <a:avLst/>
          </a:prstGeom>
          <a:noFill/>
          <a:ln/>
        </p:spPr>
        <p:txBody>
          <a:bodyPr wrap="square" lIns="0" tIns="0" rIns="0" bIns="0" rtlCol="0" anchor="ctr"/>
          <a:lstStyle/>
          <a:p>
            <a:pPr indent="0" marL="0">
              <a:lnSpc>
                <a:spcPts val="3600"/>
              </a:lnSpc>
              <a:buNone/>
            </a:pPr>
            <a:r>
              <a:rPr lang="en-US" sz="3200" b="1" dirty="0">
                <a:solidFill>
                  <a:srgbClr val="ECE9E2"/>
                </a:solidFill>
                <a:latin typeface="Georgia" pitchFamily="34" charset="0"/>
                <a:ea typeface="Georgia" pitchFamily="34" charset="-122"/>
                <a:cs typeface="Georgia" pitchFamily="34" charset="-120"/>
              </a:rPr>
              <a:t>Pre-registered, public before the pilot starts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914400"/>
        </p:xfrm>
        <a:graphic>
          <a:graphicData uri="http://schemas.openxmlformats.org/drawingml/2006/table">
            <a:tbl>
              <a:tblPr/>
              <a:tblGrid>
                <a:gridCol w="4937760"/>
                <a:gridCol w="2103120"/>
                <a:gridCol w="2377440"/>
                <a:gridCol w="1764792"/>
              </a:tblGrid>
              <a:tr h="512064">
                <a:tc>
                  <a:txBody>
                    <a:bodyPr/>
                    <a:lstStyle/>
                    <a:p>
                      <a:pPr indent="0" marL="0">
                        <a:buNone/>
                      </a:pPr>
                      <a:r>
                        <a:rPr lang="en-US" sz="1050" b="1" dirty="0">
                          <a:solidFill>
                            <a:srgbClr val="8B8A82"/>
                          </a:solidFill>
                          <a:latin typeface="Courier New" pitchFamily="34" charset="0"/>
                          <a:ea typeface="Courier New" pitchFamily="34" charset="-122"/>
                          <a:cs typeface="Courier New" pitchFamily="34" charset="-120"/>
                        </a:rPr>
                        <a:t>Kill criterion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14161C"/>
                    </a:solidFill>
                  </a:tcPr>
                </a:tc>
                <a:tc>
                  <a:txBody>
                    <a:bodyPr/>
                    <a:lstStyle/>
                    <a:p>
                      <a:pPr indent="0" marL="0">
                        <a:buNone/>
                      </a:pPr>
                      <a:r>
                        <a:rPr lang="en-US" sz="1050" b="1" dirty="0">
                          <a:solidFill>
                            <a:srgbClr val="8B8A82"/>
                          </a:solidFill>
                          <a:latin typeface="Courier New" pitchFamily="34" charset="0"/>
                          <a:ea typeface="Courier New" pitchFamily="34" charset="-122"/>
                          <a:cs typeface="Courier New" pitchFamily="34" charset="-120"/>
                        </a:rPr>
                        <a:t>Now</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14161C"/>
                    </a:solidFill>
                  </a:tcPr>
                </a:tc>
                <a:tc>
                  <a:txBody>
                    <a:bodyPr/>
                    <a:lstStyle/>
                    <a:p>
                      <a:pPr indent="0" marL="0">
                        <a:buNone/>
                      </a:pPr>
                      <a:r>
                        <a:rPr lang="en-US" sz="1050" b="1" dirty="0">
                          <a:solidFill>
                            <a:srgbClr val="8B8A82"/>
                          </a:solidFill>
                          <a:latin typeface="Courier New" pitchFamily="34" charset="0"/>
                          <a:ea typeface="Courier New" pitchFamily="34" charset="-122"/>
                          <a:cs typeface="Courier New" pitchFamily="34" charset="-120"/>
                        </a:rPr>
                        <a:t>Target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14161C"/>
                    </a:solidFill>
                  </a:tcPr>
                </a:tc>
                <a:tc>
                  <a:txBody>
                    <a:bodyPr/>
                    <a:lstStyle/>
                    <a:p>
                      <a:pPr indent="0" marL="0">
                        <a:buNone/>
                      </a:pPr>
                      <a:r>
                        <a:rPr lang="en-US" sz="1050" b="1" dirty="0">
                          <a:solidFill>
                            <a:srgbClr val="8B8A82"/>
                          </a:solidFill>
                          <a:latin typeface="Courier New" pitchFamily="34" charset="0"/>
                          <a:ea typeface="Courier New" pitchFamily="34" charset="-122"/>
                          <a:cs typeface="Courier New" pitchFamily="34" charset="-120"/>
                        </a:rPr>
                        <a:t>Status</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14161C"/>
                    </a:solidFill>
                  </a:tcPr>
                </a:tc>
              </a:tr>
              <a:tr h="512064">
                <a:tc>
                  <a:txBody>
                    <a:bodyPr/>
                    <a:lstStyle/>
                    <a:p>
                      <a:pPr indent="0" marL="0">
                        <a:buNone/>
                      </a:pPr>
                      <a:r>
                        <a:rPr lang="en-US" sz="1250" dirty="0">
                          <a:solidFill>
                            <a:srgbClr val="C8C5BD"/>
                          </a:solidFill>
                        </a:rPr>
                        <a:t>Verified-need rate (found / closed)</a:t>
                      </a:r>
                      <a:endParaRPr lang="en-US" sz="1250" dirty="0"/>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ECE9E2"/>
                          </a:solidFill>
                          <a:latin typeface="Courier New" pitchFamily="34" charset="0"/>
                          <a:ea typeface="Courier New" pitchFamily="34" charset="-122"/>
                          <a:cs typeface="Courier New" pitchFamily="34" charset="-120"/>
                        </a:rPr>
                        <a:t>75%</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C8C5BD"/>
                          </a:solidFill>
                          <a:latin typeface="Courier New" pitchFamily="34" charset="0"/>
                          <a:ea typeface="Courier New" pitchFamily="34" charset="-122"/>
                          <a:cs typeface="Courier New" pitchFamily="34" charset="-120"/>
                        </a:rPr>
                        <a:t>≥ 40%</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0CA30C"/>
                          </a:solidFill>
                          <a:latin typeface="Courier New" pitchFamily="34" charset="0"/>
                          <a:ea typeface="Courier New" pitchFamily="34" charset="-122"/>
                          <a:cs typeface="Courier New" pitchFamily="34" charset="-120"/>
                        </a:rPr>
                        <a:t>✓ healthy</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r>
              <a:tr h="512064">
                <a:tc>
                  <a:txBody>
                    <a:bodyPr/>
                    <a:lstStyle/>
                    <a:p>
                      <a:pPr indent="0" marL="0">
                        <a:buNone/>
                      </a:pPr>
                      <a:r>
                        <a:rPr lang="en-US" sz="1250" dirty="0">
                          <a:solidFill>
                            <a:srgbClr val="C8C5BD"/>
                          </a:solidFill>
                        </a:rPr>
                        <a:t>Offer acceptance</a:t>
                      </a:r>
                      <a:endParaRPr lang="en-US" sz="1250" dirty="0"/>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ECE9E2"/>
                          </a:solidFill>
                          <a:latin typeface="Courier New" pitchFamily="34" charset="0"/>
                          <a:ea typeface="Courier New" pitchFamily="34" charset="-122"/>
                          <a:cs typeface="Courier New" pitchFamily="34" charset="-120"/>
                        </a:rPr>
                        <a:t>50%</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C8C5BD"/>
                          </a:solidFill>
                          <a:latin typeface="Courier New" pitchFamily="34" charset="0"/>
                          <a:ea typeface="Courier New" pitchFamily="34" charset="-122"/>
                          <a:cs typeface="Courier New" pitchFamily="34" charset="-120"/>
                        </a:rPr>
                        <a:t>≥ 50%</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0CA30C"/>
                          </a:solidFill>
                          <a:latin typeface="Courier New" pitchFamily="34" charset="0"/>
                          <a:ea typeface="Courier New" pitchFamily="34" charset="-122"/>
                          <a:cs typeface="Courier New" pitchFamily="34" charset="-120"/>
                        </a:rPr>
                        <a:t>✓ healthy</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r>
              <a:tr h="512064">
                <a:tc>
                  <a:txBody>
                    <a:bodyPr/>
                    <a:lstStyle/>
                    <a:p>
                      <a:pPr indent="0" marL="0">
                        <a:buNone/>
                      </a:pPr>
                      <a:r>
                        <a:rPr lang="en-US" sz="1250" dirty="0">
                          <a:solidFill>
                            <a:srgbClr val="C8C5BD"/>
                          </a:solidFill>
                        </a:rPr>
                        <a:t>Cost per person served</a:t>
                      </a:r>
                      <a:endParaRPr lang="en-US" sz="1250" dirty="0"/>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ECE9E2"/>
                          </a:solidFill>
                          <a:latin typeface="Courier New" pitchFamily="34" charset="0"/>
                          <a:ea typeface="Courier New" pitchFamily="34" charset="-122"/>
                          <a:cs typeface="Courier New" pitchFamily="34" charset="-120"/>
                        </a:rPr>
                        <a:t>₹580</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C8C5BD"/>
                          </a:solidFill>
                          <a:latin typeface="Courier New" pitchFamily="34" charset="0"/>
                          <a:ea typeface="Courier New" pitchFamily="34" charset="-122"/>
                          <a:cs typeface="Courier New" pitchFamily="34" charset="-120"/>
                        </a:rPr>
                        <a:t>≤ ₹900</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0CA30C"/>
                          </a:solidFill>
                          <a:latin typeface="Courier New" pitchFamily="34" charset="0"/>
                          <a:ea typeface="Courier New" pitchFamily="34" charset="-122"/>
                          <a:cs typeface="Courier New" pitchFamily="34" charset="-120"/>
                        </a:rPr>
                        <a:t>✓ healthy</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r>
              <a:tr h="512064">
                <a:tc>
                  <a:txBody>
                    <a:bodyPr/>
                    <a:lstStyle/>
                    <a:p>
                      <a:pPr indent="0" marL="0">
                        <a:buNone/>
                      </a:pPr>
                      <a:r>
                        <a:rPr lang="en-US" sz="1250" dirty="0">
                          <a:solidFill>
                            <a:srgbClr val="C8C5BD"/>
                          </a:solidFill>
                        </a:rPr>
                        <a:t>Open backlog</a:t>
                      </a:r>
                      <a:endParaRPr lang="en-US" sz="1250" dirty="0"/>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ECE9E2"/>
                          </a:solidFill>
                          <a:latin typeface="Courier New" pitchFamily="34" charset="0"/>
                          <a:ea typeface="Courier New" pitchFamily="34" charset="-122"/>
                          <a:cs typeface="Courier New" pitchFamily="34" charset="-120"/>
                        </a:rPr>
                        <a:t>11</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C8C5BD"/>
                          </a:solidFill>
                          <a:latin typeface="Courier New" pitchFamily="34" charset="0"/>
                          <a:ea typeface="Courier New" pitchFamily="34" charset="-122"/>
                          <a:cs typeface="Courier New" pitchFamily="34" charset="-120"/>
                        </a:rPr>
                        <a:t>≤ 12 capacity</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c>
                  <a:txBody>
                    <a:bodyPr/>
                    <a:lstStyle/>
                    <a:p>
                      <a:pPr indent="0" marL="0">
                        <a:buNone/>
                      </a:pPr>
                      <a:r>
                        <a:rPr lang="en-US" sz="1250" dirty="0">
                          <a:solidFill>
                            <a:srgbClr val="0CA30C"/>
                          </a:solidFill>
                          <a:latin typeface="Courier New" pitchFamily="34" charset="0"/>
                          <a:ea typeface="Courier New" pitchFamily="34" charset="-122"/>
                          <a:cs typeface="Courier New" pitchFamily="34" charset="-120"/>
                        </a:rPr>
                        <a:t>✓ healthy</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2A2E38"/>
                      </a:solidFill>
                      <a:prstDash val="solid"/>
                      <a:round/>
                      <a:headEnd type="none" w="med" len="med"/>
                      <a:tailEnd type="none" w="med" len="med"/>
                    </a:lnL>
                    <a:lnR w="12700" cap="flat" cmpd="sng" algn="ctr">
                      <a:solidFill>
                        <a:srgbClr val="2A2E38"/>
                      </a:solidFill>
                      <a:prstDash val="solid"/>
                      <a:round/>
                      <a:headEnd type="none" w="med" len="med"/>
                      <a:tailEnd type="none" w="med" len="med"/>
                    </a:lnR>
                    <a:lnT w="12700" cap="flat" cmpd="sng" algn="ctr">
                      <a:solidFill>
                        <a:srgbClr val="2A2E38"/>
                      </a:solidFill>
                      <a:prstDash val="solid"/>
                      <a:round/>
                      <a:headEnd type="none" w="med" len="med"/>
                      <a:tailEnd type="none" w="med" len="med"/>
                    </a:lnT>
                    <a:lnB w="12700" cap="flat" cmpd="sng" algn="ctr">
                      <a:solidFill>
                        <a:srgbClr val="2A2E38"/>
                      </a:solidFill>
                      <a:prstDash val="solid"/>
                      <a:round/>
                      <a:headEnd type="none" w="med" len="med"/>
                      <a:tailEnd type="none" w="med" len="med"/>
                    </a:lnB>
                    <a:solidFill>
                      <a:srgbClr val="0B0C10"/>
                    </a:solidFill>
                  </a:tcPr>
                </a:tc>
              </a:tr>
            </a:tbl>
          </a:graphicData>
        </a:graphic>
      </p:graphicFrame>
      <p:pic>
        <p:nvPicPr>
          <p:cNvPr id="5" name="Image 0" descr="/home/user/register/research/pitch/assets/metrics.png">    </p:cNvPr>
          <p:cNvPicPr>
            <a:picLocks noChangeAspect="1"/>
          </p:cNvPicPr>
          <p:nvPr/>
        </p:nvPicPr>
        <p:blipFill>
          <a:blip r:embed="rId1"/>
          <a:stretch>
            <a:fillRect/>
          </a:stretch>
        </p:blipFill>
        <p:spPr>
          <a:xfrm>
            <a:off x="502920" y="4572000"/>
            <a:ext cx="3154680" cy="1517904"/>
          </a:xfrm>
          <a:prstGeom prst="ellipse">
            <a:avLst/>
          </a:prstGeom>
        </p:spPr>
      </p:pic>
      <p:sp>
        <p:nvSpPr>
          <p:cNvPr id="6" name="Text 2"/>
          <p:cNvSpPr/>
          <p:nvPr/>
        </p:nvSpPr>
        <p:spPr>
          <a:xfrm>
            <a:off x="502920" y="6144768"/>
            <a:ext cx="3291840" cy="256032"/>
          </a:xfrm>
          <a:prstGeom prst="rect">
            <a:avLst/>
          </a:prstGeom>
          <a:noFill/>
          <a:ln/>
        </p:spPr>
        <p:txBody>
          <a:bodyPr wrap="square" lIns="0" tIns="0" rIns="0" bIns="0" rtlCol="0" anchor="ctr"/>
          <a:lstStyle/>
          <a:p>
            <a:pPr indent="0" marL="0">
              <a:buNone/>
            </a:pPr>
            <a:r>
              <a:rPr lang="en-US" sz="850" dirty="0">
                <a:solidFill>
                  <a:srgbClr val="8B8A82"/>
                </a:solidFill>
                <a:latin typeface="Courier New" pitchFamily="34" charset="0"/>
                <a:ea typeface="Courier New" pitchFamily="34" charset="-122"/>
                <a:cs typeface="Courier New" pitchFamily="34" charset="-120"/>
              </a:rPr>
              <a:t>the same dashboard the funders see — public before the pilot starts</a:t>
            </a:r>
            <a:endParaRPr lang="en-US" sz="850" dirty="0"/>
          </a:p>
        </p:txBody>
      </p:sp>
      <p:sp>
        <p:nvSpPr>
          <p:cNvPr id="7" name="Text 3"/>
          <p:cNvSpPr/>
          <p:nvPr/>
        </p:nvSpPr>
        <p:spPr>
          <a:xfrm>
            <a:off x="4617720" y="4617720"/>
            <a:ext cx="6519672" cy="1463040"/>
          </a:xfrm>
          <a:prstGeom prst="rect">
            <a:avLst/>
          </a:prstGeom>
          <a:noFill/>
          <a:ln/>
        </p:spPr>
        <p:txBody>
          <a:bodyPr wrap="square" lIns="0" tIns="0" rIns="0" bIns="0" rtlCol="0" anchor="ctr"/>
          <a:lstStyle/>
          <a:p>
            <a:pPr indent="0" marL="0">
              <a:lnSpc>
                <a:spcPts val="2200"/>
              </a:lnSpc>
              <a:buNone/>
            </a:pPr>
            <a:r>
              <a:rPr lang="en-US" sz="1650" i="1" dirty="0">
                <a:solidFill>
                  <a:srgbClr val="F2A93B"/>
                </a:solidFill>
                <a:latin typeface="Georgia" pitchFamily="34" charset="0"/>
                <a:ea typeface="Georgia" pitchFamily="34" charset="-122"/>
                <a:cs typeface="Georgia" pitchFamily="34" charset="-120"/>
              </a:rPr>
              <a:t>If Wayside stops earning its numbers, its own dashboard says so — and we publish that, and stop.</a:t>
            </a:r>
            <a:endParaRPr lang="en-US" sz="1650" dirty="0"/>
          </a:p>
        </p:txBody>
      </p:sp>
      <p:sp>
        <p:nvSpPr>
          <p:cNvPr id="8" name="Text 4"/>
          <p:cNvSpPr/>
          <p:nvPr/>
        </p:nvSpPr>
        <p:spPr>
          <a:xfrm>
            <a:off x="9582912" y="6528816"/>
            <a:ext cx="2103120" cy="237744"/>
          </a:xfrm>
          <a:prstGeom prst="rect">
            <a:avLst/>
          </a:prstGeom>
          <a:noFill/>
          <a:ln/>
        </p:spPr>
        <p:txBody>
          <a:bodyPr wrap="square" lIns="0" tIns="0" rIns="0" bIns="0" rtlCol="0" anchor="ctr"/>
          <a:lstStyle/>
          <a:p>
            <a:pPr algn="r" indent="0" marL="0">
              <a:buNone/>
            </a:pPr>
            <a:r>
              <a:rPr lang="en-US" sz="850" spc="100" kern="0" dirty="0">
                <a:solidFill>
                  <a:srgbClr val="2A2E38"/>
                </a:solidFill>
                <a:latin typeface="Courier New" pitchFamily="34" charset="0"/>
                <a:ea typeface="Courier New" pitchFamily="34" charset="-122"/>
                <a:cs typeface="Courier New" pitchFamily="34" charset="-120"/>
              </a:rPr>
              <a:t>WAYSIDE — 12/13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502920" y="1554480"/>
            <a:ext cx="10515600" cy="2468880"/>
          </a:xfrm>
          <a:prstGeom prst="rect">
            <a:avLst/>
          </a:prstGeom>
          <a:noFill/>
          <a:ln/>
        </p:spPr>
        <p:txBody>
          <a:bodyPr wrap="square" lIns="0" tIns="0" rIns="0" bIns="0" rtlCol="0" anchor="ctr"/>
          <a:lstStyle/>
          <a:p>
            <a:pPr indent="0" marL="0">
              <a:lnSpc>
                <a:spcPts val="5200"/>
              </a:lnSpc>
              <a:buNone/>
            </a:pPr>
            <a:r>
              <a:rPr lang="en-US" sz="4000" b="1" dirty="0">
                <a:solidFill>
                  <a:srgbClr val="ECE9E2"/>
                </a:solidFill>
                <a:latin typeface="Georgia" pitchFamily="34" charset="0"/>
                <a:ea typeface="Georgia" pitchFamily="34" charset="-122"/>
                <a:cs typeface="Georgia" pitchFamily="34" charset="-120"/>
              </a:rPr>
              <a:t>No cameras.
</a:t>
            </a:r>
            <a:pPr indent="0" marL="0">
              <a:lnSpc>
                <a:spcPts val="5200"/>
              </a:lnSpc>
              <a:buNone/>
            </a:pPr>
            <a:r>
              <a:rPr lang="en-US" sz="4000" b="1" dirty="0">
                <a:solidFill>
                  <a:srgbClr val="ECE9E2"/>
                </a:solidFill>
                <a:latin typeface="Georgia" pitchFamily="34" charset="0"/>
                <a:ea typeface="Georgia" pitchFamily="34" charset="-122"/>
                <a:cs typeface="Georgia" pitchFamily="34" charset="-120"/>
              </a:rPr>
              <a:t>No database of the poor.
</a:t>
            </a:r>
            <a:pPr indent="0" marL="0">
              <a:lnSpc>
                <a:spcPts val="5200"/>
              </a:lnSpc>
              <a:buNone/>
            </a:pPr>
            <a:r>
              <a:rPr lang="en-US" sz="4000" b="1" dirty="0">
                <a:solidFill>
                  <a:srgbClr val="F2A93B"/>
                </a:solidFill>
                <a:latin typeface="Georgia" pitchFamily="34" charset="0"/>
                <a:ea typeface="Georgia" pitchFamily="34" charset="-122"/>
                <a:cs typeface="Georgia" pitchFamily="34" charset="-120"/>
              </a:rPr>
              <a:t>No one left by the wayside.</a:t>
            </a:r>
            <a:endParaRPr lang="en-US" sz="4000" dirty="0"/>
          </a:p>
        </p:txBody>
      </p:sp>
      <p:sp>
        <p:nvSpPr>
          <p:cNvPr id="3" name="Text 1"/>
          <p:cNvSpPr/>
          <p:nvPr/>
        </p:nvSpPr>
        <p:spPr>
          <a:xfrm>
            <a:off x="502920" y="4343400"/>
            <a:ext cx="10607040" cy="502920"/>
          </a:xfrm>
          <a:prstGeom prst="rect">
            <a:avLst/>
          </a:prstGeom>
          <a:noFill/>
          <a:ln/>
        </p:spPr>
        <p:txBody>
          <a:bodyPr wrap="square" lIns="0" tIns="0" rIns="0" bIns="0" rtlCol="0" anchor="ctr"/>
          <a:lstStyle/>
          <a:p>
            <a:pPr indent="0" marL="0">
              <a:buNone/>
            </a:pPr>
            <a:r>
              <a:rPr lang="en-US" sz="1600" dirty="0">
                <a:solidFill>
                  <a:srgbClr val="C8C5BD"/>
                </a:solidFill>
                <a:latin typeface="Arial" pitchFamily="34" charset="0"/>
                <a:ea typeface="Arial" pitchFamily="34" charset="-122"/>
                <a:cs typeface="Arial" pitchFamily="34" charset="-120"/>
              </a:rPr>
              <a:t>The ask: pilot funding for one zone · introductions to Delhi street-outreach NGOs · a mentor who has run field ops.</a:t>
            </a:r>
            <a:endParaRPr lang="en-US" sz="1600" dirty="0"/>
          </a:p>
        </p:txBody>
      </p:sp>
      <p:sp>
        <p:nvSpPr>
          <p:cNvPr id="4" name="Text 2"/>
          <p:cNvSpPr/>
          <p:nvPr/>
        </p:nvSpPr>
        <p:spPr>
          <a:xfrm>
            <a:off x="502920" y="5120640"/>
            <a:ext cx="10972800" cy="365760"/>
          </a:xfrm>
          <a:prstGeom prst="rect">
            <a:avLst/>
          </a:prstGeom>
          <a:noFill/>
          <a:ln/>
        </p:spPr>
        <p:txBody>
          <a:bodyPr wrap="square" lIns="0" tIns="0" rIns="0" bIns="0" rtlCol="0" anchor="ctr"/>
          <a:lstStyle/>
          <a:p>
            <a:pPr indent="0" marL="0">
              <a:buNone/>
            </a:pPr>
            <a:r>
              <a:rPr lang="en-US" sz="1250" dirty="0">
                <a:solidFill>
                  <a:srgbClr val="8B8A82"/>
                </a:solidFill>
                <a:latin typeface="Courier New" pitchFamily="34" charset="0"/>
                <a:ea typeface="Courier New" pitchFamily="34" charset="-122"/>
                <a:cs typeface="Courier New" pitchFamily="34" charset="-120"/>
              </a:rPr>
              <a:t>Rustom Dubash · rustommdubash@gmail.com · working demo, 2:22 video, and full research corpus on request</a:t>
            </a:r>
            <a:endParaRPr lang="en-US" sz="1250" dirty="0"/>
          </a:p>
        </p:txBody>
      </p:sp>
      <p:sp>
        <p:nvSpPr>
          <p:cNvPr id="5" name="Shape 3"/>
          <p:cNvSpPr/>
          <p:nvPr/>
        </p:nvSpPr>
        <p:spPr>
          <a:xfrm>
            <a:off x="502920" y="5989320"/>
            <a:ext cx="4114800" cy="0"/>
          </a:xfrm>
          <a:prstGeom prst="line">
            <a:avLst/>
          </a:prstGeom>
          <a:noFill/>
          <a:ln w="9525">
            <a:solidFill>
              <a:srgbClr val="2A2E38"/>
            </a:solidFill>
            <a:prstDash val="solid"/>
          </a:ln>
        </p:spPr>
      </p:sp>
      <p:sp>
        <p:nvSpPr>
          <p:cNvPr id="6" name="Text 4"/>
          <p:cNvSpPr/>
          <p:nvPr/>
        </p:nvSpPr>
        <p:spPr>
          <a:xfrm>
            <a:off x="502920" y="6126480"/>
            <a:ext cx="7315200" cy="274320"/>
          </a:xfrm>
          <a:prstGeom prst="rect">
            <a:avLst/>
          </a:prstGeom>
          <a:noFill/>
          <a:ln/>
        </p:spPr>
        <p:txBody>
          <a:bodyPr wrap="square" lIns="0" tIns="0" rIns="0" bIns="0" rtlCol="0" anchor="ctr"/>
          <a:lstStyle/>
          <a:p>
            <a:pPr indent="0" marL="0">
              <a:buNone/>
            </a:pPr>
            <a:r>
              <a:rPr lang="en-US" sz="950" spc="200" kern="0" dirty="0">
                <a:solidFill>
                  <a:srgbClr val="2A2E38"/>
                </a:solidFill>
                <a:latin typeface="Courier New" pitchFamily="34" charset="0"/>
                <a:ea typeface="Courier New" pitchFamily="34" charset="-122"/>
                <a:cs typeface="Courier New" pitchFamily="34" charset="-120"/>
              </a:rPr>
              <a:t>WAYSIDE — KEVIN XU INNOVATION CHALLENGE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2026-08-04T21:15:42Z</dcterms:created>
  <dcterms:modified xsi:type="dcterms:W3CDTF">2026-08-04T21:15:42Z</dcterms:modified>
</cp:coreProperties>
</file>